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cdfc35acee417c" /><Relationship Type="http://schemas.openxmlformats.org/officeDocument/2006/relationships/extended-properties" Target="/docProps/app.xml" Id="R38a9184db7a445df" /><Relationship Type="http://schemas.openxmlformats.org/officeDocument/2006/relationships/officeDocument" Target="/ppt/presentation.xml" Id="R1240143e6f53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877629fb044d5"/>
  </p:sldMasterIdLst>
  <p:notesMasterIdLst>
    <p:notesMasterId xmlns:r="http://schemas.openxmlformats.org/officeDocument/2006/relationships" r:id="R19fe820ff0854b62"/>
  </p:notesMasterIdLst>
  <p:sldIdLst>
    <p:sldId xmlns:r="http://schemas.openxmlformats.org/officeDocument/2006/relationships" id="256" r:id="R09f238c9378c4c4f"/>
    <p:sldId xmlns:r="http://schemas.openxmlformats.org/officeDocument/2006/relationships" id="257" r:id="R3bc02bc2295f4c7f"/>
    <p:sldId xmlns:r="http://schemas.openxmlformats.org/officeDocument/2006/relationships" id="258" r:id="R2a59fce7ecd642fd"/>
    <p:sldId xmlns:r="http://schemas.openxmlformats.org/officeDocument/2006/relationships" id="259" r:id="Rb7c5e4e684bb4138"/>
    <p:sldId xmlns:r="http://schemas.openxmlformats.org/officeDocument/2006/relationships" id="260" r:id="R9ae3647df7184242"/>
    <p:sldId xmlns:r="http://schemas.openxmlformats.org/officeDocument/2006/relationships" id="261" r:id="Rfd6b6a8326a34967"/>
    <p:sldId xmlns:r="http://schemas.openxmlformats.org/officeDocument/2006/relationships" id="262" r:id="Re484f11127c740b8"/>
    <p:sldId xmlns:r="http://schemas.openxmlformats.org/officeDocument/2006/relationships" id="263" r:id="R2f9733afce5b4687"/>
    <p:sldId xmlns:r="http://schemas.openxmlformats.org/officeDocument/2006/relationships" id="264" r:id="Rb7016234473f40ce"/>
    <p:sldId xmlns:r="http://schemas.openxmlformats.org/officeDocument/2006/relationships" id="265" r:id="Rab2159b6658b4d6e"/>
    <p:sldId xmlns:r="http://schemas.openxmlformats.org/officeDocument/2006/relationships" id="266" r:id="R4df7f98c42d84f0b"/>
    <p:sldId xmlns:r="http://schemas.openxmlformats.org/officeDocument/2006/relationships" id="267" r:id="Rbaf85309c64947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375c8ba4b4a93" /><Relationship Type="http://schemas.openxmlformats.org/officeDocument/2006/relationships/slideMaster" Target="/ppt/slideMasters/slideMaster1.xml" Id="Rf4e877629fb044d5" /><Relationship Type="http://schemas.openxmlformats.org/officeDocument/2006/relationships/notesMaster" Target="/ppt/notesMasters/notesMaster1.xml" Id="R19fe820ff0854b62" /><Relationship Type="http://schemas.openxmlformats.org/officeDocument/2006/relationships/presProps" Target="/ppt/presProps.xml" Id="R12e644a58ef44136" /><Relationship Type="http://schemas.openxmlformats.org/officeDocument/2006/relationships/tableStyles" Target="/ppt/tableStyles.xml" Id="R5007d598cd804d73" /><Relationship Type="http://schemas.openxmlformats.org/officeDocument/2006/relationships/slide" Target="/ppt/slides/slide1.xml" Id="R09f238c9378c4c4f" /><Relationship Type="http://schemas.openxmlformats.org/officeDocument/2006/relationships/slide" Target="/ppt/slides/slide2.xml" Id="R3bc02bc2295f4c7f" /><Relationship Type="http://schemas.openxmlformats.org/officeDocument/2006/relationships/slide" Target="/ppt/slides/slide3.xml" Id="R2a59fce7ecd642fd" /><Relationship Type="http://schemas.openxmlformats.org/officeDocument/2006/relationships/slide" Target="/ppt/slides/slide4.xml" Id="Rb7c5e4e684bb4138" /><Relationship Type="http://schemas.openxmlformats.org/officeDocument/2006/relationships/slide" Target="/ppt/slides/slide5.xml" Id="R9ae3647df7184242" /><Relationship Type="http://schemas.openxmlformats.org/officeDocument/2006/relationships/slide" Target="/ppt/slides/slide6.xml" Id="Rfd6b6a8326a34967" /><Relationship Type="http://schemas.openxmlformats.org/officeDocument/2006/relationships/slide" Target="/ppt/slides/slide7.xml" Id="Re484f11127c740b8" /><Relationship Type="http://schemas.openxmlformats.org/officeDocument/2006/relationships/slide" Target="/ppt/slides/slide8.xml" Id="R2f9733afce5b4687" /><Relationship Type="http://schemas.openxmlformats.org/officeDocument/2006/relationships/slide" Target="/ppt/slides/slide9.xml" Id="Rb7016234473f40ce" /><Relationship Type="http://schemas.openxmlformats.org/officeDocument/2006/relationships/slide" Target="/ppt/slides/slide10.xml" Id="Rab2159b6658b4d6e" /><Relationship Type="http://schemas.openxmlformats.org/officeDocument/2006/relationships/slide" Target="/ppt/slides/slide11.xml" Id="R4df7f98c42d84f0b" /><Relationship Type="http://schemas.openxmlformats.org/officeDocument/2006/relationships/slide" Target="/ppt/slides/slide12.xml" Id="Rbaf85309c64947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7d53bdd0754e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39ffd724bf47dd" /><Relationship Type="http://schemas.openxmlformats.org/officeDocument/2006/relationships/notesMaster" Target="/ppt/notesMasters/notesMaster1.xml" Id="R6ecb14703b38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c6a8e16da34d4c" /><Relationship Type="http://schemas.openxmlformats.org/officeDocument/2006/relationships/notesMaster" Target="/ppt/notesMasters/notesMaster1.xml" Id="Rbef9dafb8e5f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2750e669ab4b13" /><Relationship Type="http://schemas.openxmlformats.org/officeDocument/2006/relationships/notesMaster" Target="/ppt/notesMasters/notesMaster1.xml" Id="R547841aade3b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0dd285a10e4da6" /><Relationship Type="http://schemas.openxmlformats.org/officeDocument/2006/relationships/notesMaster" Target="/ppt/notesMasters/notesMaster1.xml" Id="R0344561749ae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28f6f02a1b4eb6" /><Relationship Type="http://schemas.openxmlformats.org/officeDocument/2006/relationships/notesMaster" Target="/ppt/notesMasters/notesMaster1.xml" Id="Reea1e73a2bef4f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62dec4c914ee9" /><Relationship Type="http://schemas.openxmlformats.org/officeDocument/2006/relationships/notesMaster" Target="/ppt/notesMasters/notesMaster1.xml" Id="R1853c3a8b09e4e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dc5137451b4a4c" /><Relationship Type="http://schemas.openxmlformats.org/officeDocument/2006/relationships/notesMaster" Target="/ppt/notesMasters/notesMaster1.xml" Id="Rc2312813ca8948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94af7b72574dc6" /><Relationship Type="http://schemas.openxmlformats.org/officeDocument/2006/relationships/notesMaster" Target="/ppt/notesMasters/notesMaster1.xml" Id="R6ef2f27c6ed3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accae71e7e4847" /><Relationship Type="http://schemas.openxmlformats.org/officeDocument/2006/relationships/notesMaster" Target="/ppt/notesMasters/notesMaster1.xml" Id="Rb1b9332a385d44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e0b68212f461b" /><Relationship Type="http://schemas.openxmlformats.org/officeDocument/2006/relationships/notesMaster" Target="/ppt/notesMasters/notesMaster1.xml" Id="Re5013548194d4c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7f417f7d734956" /><Relationship Type="http://schemas.openxmlformats.org/officeDocument/2006/relationships/notesMaster" Target="/ppt/notesMasters/notesMaster1.xml" Id="R4f79cd606d8042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0f9fbdc64f46bc" /><Relationship Type="http://schemas.openxmlformats.org/officeDocument/2006/relationships/notesMaster" Target="/ppt/notesMasters/notesMaster1.xml" Id="R0b09ee25c78d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页：研究问题与原型范围</a:t>
            </a:r>
          </a:p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题目是有限表达的文字选择与机器人手语候选表达。输入一句英文或选择短语，系统选择一个明确编号，再预览对应的机器人动作。我们目前只研究三个候选，全部处于语言可理解性待验证状态。今天汇报两条主线：文字能否选对编号，以及机器人是否能在自身形态约束下呈现参考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本页讲述检查：不要说成任意英文翻译，也不要说已经服务医院。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https://github.com/unitreerobotics/unitree_ros/tree/5994d4faef0a9cadd3287f8de0199a67eeb2a259/robots/g1_description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data/catalog.json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页：场景、现有选择与收敛</a:t>
            </a:r>
          </a:p>
          <a:p xmlns:a="http://schemas.openxmlformats.org/drawingml/2006/main">
            <a:r>
              <a:t>建议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我们把应用设想放在接待处的简短服务互动，但这只是未来场景假设。文字显示、人类手语和机器人表达解决的环节不同；本项目选择可重复的机器人动作，便于检查形态和动作路径。现阶段词汇表只有 HELLO、THANK_YOU 和 PLEASE_WAIT 三个编号。最后一个编号为了接口兼容保留，但动作来源只支持 WAIT 词例，不能称为完整礼貌请求。ASL 也不等于新加坡本地 SgSL，未来本地部署还需要重新确认语言需求。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本页讲述检查：能否清楚说明当前研究目标与设想应用之间的距离？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docs/实施路线.md</a:t>
            </a:r>
          </a:p>
          <a:p xmlns:a="http://schemas.openxmlformats.org/drawingml/2006/main">
            <a:r>
              <a:t>docs/source-review.md</a:t>
            </a:r>
          </a:p>
          <a:p xmlns:a="http://schemas.openxmlformats.org/drawingml/2006/main">
            <a:r>
              <a:t>data/catalog.json</a:t>
            </a:r>
          </a:p>
          <a:p xmlns:a="http://schemas.openxmlformats.org/drawingml/2006/main">
            <a:r>
              <a:t>https://sadeaf.org.sg/sgsl-course/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页：公共接口与错误隔离</a:t>
            </a:r>
          </a:p>
          <a:p xmlns:a="http://schemas.openxmlformats.org/drawingml/2006/main">
            <a:r>
              <a:t>建议 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这个系统有两条独立验收线。语言模块先经过公共拒绝检查，再由固定匹配、句向量或本地模型决定编号。它输出的 status 只有四类，非 execute 状态不能携带动作。编号选中后，还要通过独立候选预览许可，默认阻止未评审动作。网页现场运行文字选择，但播放的是事先用真实 MuJoCo 逐帧渲染的 MP4，不能称为浏览器实时物理仿真。分开模块后，误选与动作几何错误可以分别定位。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本页讲述检查：语言失败与动作失败分别在哪个接口被发现？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contracts/interfaces.json</a:t>
            </a:r>
          </a:p>
          <a:p xmlns:a="http://schemas.openxmlformats.org/drawingml/2006/main">
            <a:r>
              <a:t>src/sign_robot/pipeline.py</a:t>
            </a:r>
          </a:p>
          <a:p xmlns:a="http://schemas.openxmlformats.org/drawingml/2006/main">
            <a:r>
              <a:t>src/sign_robot/server.py</a:t>
            </a:r>
          </a:p>
          <a:p xmlns:a="http://schemas.openxmlformats.org/drawingml/2006/main">
            <a:r>
              <a:t>src/sign_robot/language.py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页：模型自由度与控制边界</a:t>
            </a:r>
          </a:p>
          <a:p xmlns:a="http://schemas.openxmlformats.org/drawingml/2006/main">
            <a:r>
              <a:t>建议 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机器人模型来自 Unitree 官方仓库，固定到具体提交并保存逐文件哈希。这里的 53 是标量关节坐标数，包含从动关节，不能说成 53 个独立电机。我们保留 12 条 mimic 耦合。当前场景的执行器数是零，直接回放 qpos，因此验收的是运动学几何，不是控制器跟踪、力矩可行性或真实机器人安全。手指缺少独立并指能力，头部和面部也没有表达，这些限制影响动作的语言真实性。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本页讲述检查：如果有人问这是不是实时控制，应答运动学回放，并说明未做哪些动力学检查。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https://github.com/unitreerobotics/unitree_ros/tree/5994d4faef0a9cadd3287f8de0199a67eeb2a259/robots/g1_description</a:t>
            </a:r>
          </a:p>
          <a:p xmlns:a="http://schemas.openxmlformats.org/drawingml/2006/main">
            <a:r>
              <a:t>assets/robot/model_info.json</a:t>
            </a:r>
          </a:p>
          <a:p xmlns:a="http://schemas.openxmlformats.org/drawingml/2006/main">
            <a:r>
              <a:t>assets/robot/upstream_manifest.json</a:t>
            </a:r>
          </a:p>
          <a:p xmlns:a="http://schemas.openxmlformats.org/drawingml/2006/main">
            <a:r>
              <a:t>motions/THANK_YOU.json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页：公开视频如何指导校准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A1 实际播放了 ASLU 的 THANK YOU 和 WAIT 视频，并用浏览器暂停逐帧观察。THANK YOU 的关键顺序是近唇起手、掌面向自身、向前略下、最后掌向上。这里展示的是我们自己的机器人渲染，下面的秒数对应来源视频的观察时刻，并不是机器人截图的同一时间，也不是精确人体三维标注。机器人仍有脸部间隙，手指间距不同且缺少微笑。视频对照帮助修正明显偏差，但不能直接得出毫米级真人重定向误差或可理解性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本页讲述检查：指明视频时间与机器人时间属于不同时间轴。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https://www.lifeprint.com/asl101/pages-signs/t/thankyou.htm</a:t>
            </a:r>
          </a:p>
          <a:p xmlns:a="http://schemas.openxmlformats.org/drawingml/2006/main">
            <a:r>
              <a:t>https://www.youtube.com/watch?v=2W0BDFUjsG0</a:t>
            </a:r>
          </a:p>
          <a:p xmlns:a="http://schemas.openxmlformats.org/drawingml/2006/main">
            <a:r>
              <a:t>docs/video-calibration.md</a:t>
            </a:r>
          </a:p>
          <a:p xmlns:a="http://schemas.openxmlformats.org/drawingml/2006/main">
            <a:r>
              <a:t>results/previews/THANK_YOU_calibration.json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页：逆运动学、插值与轨迹验收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输入是人工指定的手腕位置、朝向和时刻，输出是按关节命名的 positions[T,53]。有界数值 IK 同时考虑位置、旋转、与前一姿态的变化和部分距离惩罚。相邻关键帧使用三次 smoothstep，段端速度为零，但加速度连续性并没有保证。THANK YOU 加入 12 个中间位姿，避免仅插值两端关节角造成指尖向上绕行。我们检查全帧关节限位、速度、耦合和上游已有碰撞几何。已有几何没有深于 1 毫米的穿透，不等于完整安全证明。右图 WAIT 还有耦合手指与完整请求表达缺口。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本页讲述检查：要能解释为何小 IK 残差不能证明手语正确。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scripts/build_motions.py</a:t>
            </a:r>
          </a:p>
          <a:p xmlns:a="http://schemas.openxmlformats.org/drawingml/2006/main">
            <a:r>
              <a:t>tests/test_motion.py</a:t>
            </a:r>
          </a:p>
          <a:p xmlns:a="http://schemas.openxmlformats.org/drawingml/2006/main">
            <a:r>
              <a:t>motions/THANK_YOU.json</a:t>
            </a:r>
          </a:p>
          <a:p xmlns:a="http://schemas.openxmlformats.org/drawingml/2006/main">
            <a:r>
              <a:t>motions/PLEASE_WAIT.json</a:t>
            </a:r>
          </a:p>
          <a:p xmlns:a="http://schemas.openxmlformats.org/drawingml/2006/main">
            <a:r>
              <a:t>docs/实施路线.md</a:t>
            </a:r>
          </a:p>
          <a:p xmlns:a="http://schemas.openxmlformats.org/drawingml/2006/main">
            <a:r>
              <a:t>https://www.lifeprint.com/asl101/pages-signs/w/wait.htm</a:t>
            </a:r>
          </a:p>
          <a:p xmlns:a="http://schemas.openxmlformats.org/drawingml/2006/main">
            <a:r>
              <a:t>https://www.youtube.com/watch?v=YfwgS9ZsBVw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页：方法对比与共享控制条件</a:t>
            </a:r>
          </a:p>
          <a:p xmlns:a="http://schemas.openxmlformats.org/drawingml/2006/main">
            <a:r>
              <a:t>建议 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固定匹配只接受登记的完整短语。MiniLM 用本地真实的 384 维句向量，根据相似度和候选差值决定选择或拒绝。LLM 使用已有本地 Q8 检查点，严格要求整个回答等于五种标签之一，程序再封装统一接口。三个方法前面都使用同一套公共拒绝规则，所以报告的是方法加规则的系统行为。LLM 最早要求 JSON 时三个开发正例全失败；一次协议修复后格式三条合法但只选对两条，没有达到开发启用门槛，因此只进入研究对照，默认继续关闭。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本页讲述检查：不要把共享 guard 的成功全部归功于模型。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https://huggingface.co/sentence-transformers/all-MiniLM-L6-v2/tree/1110a243fdf4706b3f48f1d95db1a4f5529b4d41</a:t>
            </a:r>
          </a:p>
          <a:p xmlns:a="http://schemas.openxmlformats.org/drawingml/2006/main">
            <a:r>
              <a:t>config/embedding.json</a:t>
            </a:r>
          </a:p>
          <a:p xmlns:a="http://schemas.openxmlformats.org/drawingml/2006/main">
            <a:r>
              <a:t>config/llm_local_provenance.json</a:t>
            </a:r>
          </a:p>
          <a:p xmlns:a="http://schemas.openxmlformats.org/drawingml/2006/main">
            <a:r>
              <a:t>config/llm_local_feasibility_v1.json</a:t>
            </a:r>
          </a:p>
          <a:p xmlns:a="http://schemas.openxmlformats.org/drawingml/2006/main">
            <a:r>
              <a:t>config/llm_local_feasibility_v2_label.json</a:t>
            </a:r>
          </a:p>
          <a:p xmlns:a="http://schemas.openxmlformats.org/drawingml/2006/main">
            <a:r>
              <a:t>src/sign_robot/llm.py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页：评价协议与总体结果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最终集包含 60 条输入，支持与库外各 30 条；另外有 18 条开发题。我们在运行前冻结测试哈希，并保存全部原始返回。标签由 agent 起草、尚未人审，所以只能称探索性结果。整体行为准确率将支持输入选对和库外正确拒绝合并：固定匹配 38 条，MiniLM 47 条，LLM 48 条。error 算错误，不把运行异常当成功拒绝。三个方法的分母一致，但总分隐藏错误类型，需要看下一页。它只测英文到 ID，不测动作是否可理解。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本页讲述检查：如果全部拒绝，支持部分会怎样计分？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results/evaluation/test-20261008T142047221403Z/summary.json</a:t>
            </a:r>
          </a:p>
          <a:p xmlns:a="http://schemas.openxmlformats.org/drawingml/2006/main">
            <a:r>
              <a:t>results/evaluation/test-20261008T142047221403Z/raw.jsonl</a:t>
            </a:r>
          </a:p>
          <a:p xmlns:a="http://schemas.openxmlformats.org/drawingml/2006/main">
            <a:r>
              <a:t>data/source_manifest.json</a:t>
            </a:r>
          </a:p>
          <a:p xmlns:a="http://schemas.openxmlformats.org/drawingml/2006/main">
            <a:r>
              <a:t>docs/source-review.md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页：负结果与默认选择</a:t>
            </a:r>
          </a:p>
          <a:p xmlns:a="http://schemas.openxmlformats.org/drawingml/2006/main">
            <a:r>
              <a:t>建议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的总体分数略高，但支持输入里有一条选错编号，两个非法输出，并把两条库外请求执行成动作。MiniLM 仍有 13 条支持输入被错误拒绝，不能说效果已经很好。LLM 的 60 条里只有 35 条真的请求模型，25 条由 guard 截断，实际 HTTP 子集的正确行为是 25/35，guard 是 23/25。这是经过筛选的条件子集，不能当成模型总体独立准确率。我们保留全部失败，未按最终题调提示词，默认继续用 exact 或 MiniLM。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本页讲述检查：为什么总准确率更高还不足以启用该方法？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results/evaluation/test-20261008T142047221403Z/summary.json</a:t>
            </a:r>
          </a:p>
          <a:p xmlns:a="http://schemas.openxmlformats.org/drawingml/2006/main">
            <a:r>
              <a:t>results/evaluation/test-20261008T142047221403Z/raw.jsonl</a:t>
            </a:r>
          </a:p>
          <a:p xmlns:a="http://schemas.openxmlformats.org/drawingml/2006/main">
            <a:r>
              <a:t>results/evaluation/test-20261008T142047221403Z/counterexamples.jsonl</a:t>
            </a:r>
          </a:p>
          <a:p xmlns:a="http://schemas.openxmlformats.org/drawingml/2006/main">
            <a:r>
              <a:t>config/llm.json</a:t>
            </a:r>
          </a:p>
          <a:p xmlns:a="http://schemas.openxmlformats.org/drawingml/2006/main">
            <a:r>
              <a:t>config/llm_experimental.json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页：现场演示顺序</a:t>
            </a:r>
          </a:p>
          <a:p xmlns:a="http://schemas.openxmlformats.org/drawingml/2006/main">
            <a:r>
              <a:t>建议 80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这一页留 80 秒做现场演示。演示前先双击 run_demo.command，确认本机 5412 页面可以打开。先输入 Thank you，展示选中编号但默认阻止候选动作。再勾选研究预览，看到真实 MuJoCo 预渲染视频。接着输入 Many thanks 用 MiniLM 选择同一表达。最后输入 I do not want to wait 或 Please wait and take two pills，观察拒绝与清除上一动作。断网时模型和 MP4 已在本机即可做这两种方法的备份演示，LLM 默认不可用。网页的视频不是实时物理控制。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本页讲述检查：失败输入后屏幕是否仍残留上一条动作？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results/ui/demo-detail.jpg</a:t>
            </a:r>
          </a:p>
          <a:p xmlns:a="http://schemas.openxmlformats.org/drawingml/2006/main">
            <a:r>
              <a:t>tests/test_pipeline.py</a:t>
            </a:r>
          </a:p>
          <a:p xmlns:a="http://schemas.openxmlformats.org/drawingml/2006/main">
            <a:r>
              <a:t>tests/test_server.py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页：六人如何接手</a:t>
            </a:r>
          </a:p>
          <a:p xmlns:a="http://schemas.openxmlformats.org/drawingml/2006/main">
            <a:r>
              <a:t>建议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分工按数据和接口而不是代码量划分。A1 确认来源支持什么含义，A2 实现受约束轨迹。B1 和 B2 只看开发集，把冻结版本交给 C1 评价。C2 汇总界面、跨电脑复现与演示。每人可以有一个 agent，但 agent 写出文件不等于同学掌握方法，大家都要能解释自己的输入输出和失败。建议 10 月底形成完整演示与备份，11 月 2 日前冻结提交版。课程原简报截止为 11 月 3 日，最终提交方式应按 Canvas 最新通知核对。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本页讲述检查：下一次验收要看到什么文件或行为，不能只汇报“在做”。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docs/six-person-handoff.md</a:t>
            </a:r>
          </a:p>
          <a:p xmlns:a="http://schemas.openxmlformats.org/drawingml/2006/main">
            <a:r>
              <a:t>docs/实施路线.md</a:t>
            </a:r>
          </a:p>
          <a:p xmlns:a="http://schemas.openxmlformats.org/drawingml/2006/main">
            <a:r>
              <a:t>Course briefing, slide 4: submission of slides on November 3,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页：闭环与问答</a:t>
            </a:r>
          </a:p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开头的问题，我们已经完成可运行的有限编号选择和真实机器人运动学预览，并用统一协议记录了三种文字方法的差异。这个原型使错误可追踪，但当前证据还没有闭合语言可理解性。下一步优先补人工标签、另一台电脑复现，以及 ASL 使用者无字幕复述；如果无法找到使用者，就保留“视频参考的候选动作”这个结论。请大家在问答中把文本准确率、轨迹几何、真实控制与语言理解四类证据分开。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本页讲述检查：不要用“测试通过”回答语言理解或临床效果问题。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来源与证据：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results/acceptance.json</a:t>
            </a:r>
          </a:p>
          <a:p xmlns:a="http://schemas.openxmlformats.org/drawingml/2006/main">
            <a:r>
              <a:t>docs/source-review.md</a:t>
            </a:r>
          </a:p>
          <a:p xmlns:a="http://schemas.openxmlformats.org/drawingml/2006/main">
            <a:r>
              <a:t>docs/video-calibration.md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45e4a245a43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05be7707f47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87d5922ef41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68ccd9d0c4d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44527d82c4d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64584536a47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04C0C5-7A26-4ABE-AF17-C6B350EB0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D28EDA-E002-4711-9437-F1B784EA5E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89C920-7684-46DF-82A6-9D6E8867E5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C5E80D-683C-41B6-8B02-6E21AA275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7BC3E5-F2CB-4EC6-92BF-C6A559992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52F5E9-3322-43DB-8F19-1780B4DED9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C72F8A-D290-4315-BFC7-A6567163ED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6CF21F-57FB-4522-9B7B-ED4A952527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83A789-3BF3-4DDB-A682-ECF95CBD2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55421B-8DD4-4BF1-B2C1-3BD105B0E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4eb3a367c4e6d" /><Relationship Type="http://schemas.openxmlformats.org/officeDocument/2006/relationships/slideLayout" Target="/ppt/slideLayouts/slideLayout1.xml" Id="Rc2ec4cde9f2f4038" /><Relationship Type="http://schemas.openxmlformats.org/officeDocument/2006/relationships/slideLayout" Target="/ppt/slideLayouts/slideLayout2.xml" Id="Rae8ca7ab78ea4644" /><Relationship Type="http://schemas.openxmlformats.org/officeDocument/2006/relationships/slideLayout" Target="/ppt/slideLayouts/slideLayout3.xml" Id="R16283263f5c14cce" /><Relationship Type="http://schemas.openxmlformats.org/officeDocument/2006/relationships/slideLayout" Target="/ppt/slideLayouts/slideLayout4.xml" Id="Rf5b3b9ab53744ba9" /><Relationship Type="http://schemas.openxmlformats.org/officeDocument/2006/relationships/slideLayout" Target="/ppt/slideLayouts/slideLayout5.xml" Id="R00ea94a069fa4c45" /><Relationship Type="http://schemas.openxmlformats.org/officeDocument/2006/relationships/slideLayout" Target="/ppt/slideLayouts/slideLayout6.xml" Id="R1718b351147d45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ec4cde9f2f4038"/>
    <p:sldLayoutId xmlns:r="http://schemas.openxmlformats.org/officeDocument/2006/relationships" id="2147483650" r:id="Rae8ca7ab78ea4644"/>
    <p:sldLayoutId xmlns:r="http://schemas.openxmlformats.org/officeDocument/2006/relationships" id="2147483651" r:id="R16283263f5c14cce"/>
    <p:sldLayoutId xmlns:r="http://schemas.openxmlformats.org/officeDocument/2006/relationships" id="2147483652" r:id="Rf5b3b9ab53744ba9"/>
    <p:sldLayoutId xmlns:r="http://schemas.openxmlformats.org/officeDocument/2006/relationships" id="2147483653" r:id="R00ea94a069fa4c45"/>
    <p:sldLayoutId xmlns:r="http://schemas.openxmlformats.org/officeDocument/2006/relationships" id="2147483654" r:id="R1718b351147d45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c1047486d48cc" /><Relationship Type="http://schemas.openxmlformats.org/officeDocument/2006/relationships/image" Target="/ppt/media/image.png" Id="Rbb0b390a6bfc4adb" /><Relationship Type="http://schemas.openxmlformats.org/officeDocument/2006/relationships/notesSlide" Target="/ppt/notesSlides/notesSlide1.xml" Id="Raeee37b7427f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7c0a11fc24042" /><Relationship Type="http://schemas.openxmlformats.org/officeDocument/2006/relationships/notesSlide" Target="/ppt/notesSlides/notesSlide2.xml" Id="Ref3e4837b9bb47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50856c0154b8d" /><Relationship Type="http://schemas.openxmlformats.org/officeDocument/2006/relationships/notesSlide" Target="/ppt/notesSlides/notesSlide3.xml" Id="R642c29aede78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1c6c156c9465f" /><Relationship Type="http://schemas.openxmlformats.org/officeDocument/2006/relationships/image" Target="/ppt/media/image2.png" Id="R8ea97001e2e54d27" /><Relationship Type="http://schemas.openxmlformats.org/officeDocument/2006/relationships/notesSlide" Target="/ppt/notesSlides/notesSlide4.xml" Id="Rfe570c1c207d4b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e02c2a54b4dc9" /><Relationship Type="http://schemas.openxmlformats.org/officeDocument/2006/relationships/image" Target="/ppt/media/image3.png" Id="R7bfe36fae4614b5e" /><Relationship Type="http://schemas.openxmlformats.org/officeDocument/2006/relationships/image" Target="/ppt/media/image4.png" Id="R8460ebf9ad044d99" /><Relationship Type="http://schemas.openxmlformats.org/officeDocument/2006/relationships/image" Target="/ppt/media/image5.png" Id="R5a885129be86404b" /><Relationship Type="http://schemas.openxmlformats.org/officeDocument/2006/relationships/notesSlide" Target="/ppt/notesSlides/notesSlide5.xml" Id="R37d5b14b0022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12ce7bab84acb" /><Relationship Type="http://schemas.openxmlformats.org/officeDocument/2006/relationships/image" Target="/ppt/media/image6.png" Id="R47657b76c9174c1e" /><Relationship Type="http://schemas.openxmlformats.org/officeDocument/2006/relationships/notesSlide" Target="/ppt/notesSlides/notesSlide6.xml" Id="R596e83089a2146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64453dc8c4952" /><Relationship Type="http://schemas.openxmlformats.org/officeDocument/2006/relationships/notesSlide" Target="/ppt/notesSlides/notesSlide7.xml" Id="R2e9f2c98abf74e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322410b504ac1" /><Relationship Type="http://schemas.openxmlformats.org/officeDocument/2006/relationships/chart" Target="/ppt/slides/charts/chart1.xml" Id="Rb1804f3386b14ab8" /><Relationship Type="http://schemas.openxmlformats.org/officeDocument/2006/relationships/notesSlide" Target="/ppt/notesSlides/notesSlide8.xml" Id="Rdf4e3ac4a38b4d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70d80ffc246d9" /><Relationship Type="http://schemas.openxmlformats.org/officeDocument/2006/relationships/notesSlide" Target="/ppt/notesSlides/notesSlide9.xml" Id="Re48a1cea47824f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5ce4a7b2e4d93" /><Relationship Type="http://schemas.openxmlformats.org/officeDocument/2006/relationships/image" Target="/ppt/media/image.jpeg" Id="R1752f77d718d4360" /><Relationship Type="http://schemas.openxmlformats.org/officeDocument/2006/relationships/notesSlide" Target="/ppt/notesSlides/notesSlide10.xml" Id="R81d54688bf8847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dce2c18b54584" /><Relationship Type="http://schemas.openxmlformats.org/officeDocument/2006/relationships/notesSlide" Target="/ppt/notesSlides/notesSlide11.xml" Id="Rb4f1d229d7664b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26892ef574cae" /><Relationship Type="http://schemas.openxmlformats.org/officeDocument/2006/relationships/notesSlide" Target="/ppt/notesSlides/notesSlide12.xml" Id="R58cf4b1181e64b3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Correct behavior / 60</c:v>
          </c:tx>
          <c:spPr>
            <a:solidFill xmlns:a="http://schemas.openxmlformats.org/drawingml/2006/main">
              <a:srgbClr val="007D78"/>
            </a:solidFill>
          </c:spPr>
          <c:cat>
            <c:strRef>
              <c:f>'Chart Data'!$A$2:$A$4</c:f>
              <c:strCache>
                <c:ptCount val="3"/>
                <c:pt idx="0">
                  <c:v>Exact + guard</c:v>
                </c:pt>
                <c:pt idx="1">
                  <c:v>MiniLM + guard</c:v>
                </c:pt>
                <c:pt idx="2">
                  <c:v>LLM + guard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38</c:v>
                </c:pt>
                <c:pt idx="1">
                  <c:v>47</c:v>
                </c:pt>
                <c:pt idx="2">
                  <c:v>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A3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8BF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8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4B666B"/>
                    </a:solidFill>
                    <a:latin typeface="Helvetica Neue"/>
                    <a:ea typeface="Helvetica Neue"/>
                    <a:cs typeface="Helvetica Neue"/>
                  </a:rPr>
                  <a:t>Cases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4B666B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E5412 Robotics for Healthcare">
            <a:extLst xmlns:a="http://schemas.openxmlformats.org/drawingml/2006/main">
              <a:ext uri="{FF2B5EF4-FFF2-40B4-BE49-F238E27FC236}">
                <a16:creationId xmlns:a16="http://schemas.microsoft.com/office/drawing/2014/main" id="{D6522464-1B88-4786-A9BA-351B3049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3D3C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3D3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73D3C5"/>
                </a:solidFill>
                <a:latin typeface="Helvetica Neue"/>
                <a:ea typeface="Helvetica Neue"/>
                <a:cs typeface="Helvetica Neue"/>
              </a:rPr>
              <a:t>ME5412 Robotics for Healthcare</a:t>
            </a:r>
          </a:p>
        </p:txBody>
      </p:sp>
      <p:sp>
        <p:nvSpPr>
          <p:cNvPr id="2" name="Text to&#10;robot signing">
            <a:extLst xmlns:a="http://schemas.openxmlformats.org/drawingml/2006/main">
              <a:ext uri="{FF2B5EF4-FFF2-40B4-BE49-F238E27FC236}">
                <a16:creationId xmlns:a16="http://schemas.microsoft.com/office/drawing/2014/main" id="{F85F24FD-F4CD-4C2A-8E33-ACC0A996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61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Text to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robot signing</a:t>
            </a:r>
          </a:p>
        </p:txBody>
      </p:sp>
      <p:sp>
        <p:nvSpPr>
          <p:cNvPr id="3" name="A bounded ASL expression study">
            <a:extLst xmlns:a="http://schemas.openxmlformats.org/drawingml/2006/main">
              <a:ext uri="{FF2B5EF4-FFF2-40B4-BE49-F238E27FC236}">
                <a16:creationId xmlns:a16="http://schemas.microsoft.com/office/drawing/2014/main" id="{76038739-628A-4C5D-BDE4-8545F51C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4E5E8"/>
                </a:solidFill>
                <a:latin typeface="Helvetica Neue"/>
                <a:ea typeface="Helvetica Neue"/>
                <a:cs typeface="Helvetica Neue"/>
              </a:rPr>
              <a:t>A bounded ASL expression study</a:t>
            </a:r>
          </a:p>
        </p:txBody>
      </p:sp>
      <p:sp>
        <p:nvSpPr>
          <p:cNvPr id="4" name="Simulation prototype  /  8 October 2026">
            <a:extLst xmlns:a="http://schemas.openxmlformats.org/drawingml/2006/main">
              <a:ext uri="{FF2B5EF4-FFF2-40B4-BE49-F238E27FC236}">
                <a16:creationId xmlns:a16="http://schemas.microsoft.com/office/drawing/2014/main" id="{9C0F55A6-01DA-4343-85F0-B12155D0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3B9C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3B9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3B9C0"/>
                </a:solidFill>
                <a:latin typeface="Helvetica Neue"/>
                <a:ea typeface="Helvetica Neue"/>
                <a:cs typeface="Helvetica Neue"/>
              </a:rPr>
              <a:t>Simulation prototype  /  8 October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464C8-F024-49FE-B8BD-95D4EDFE0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b390a6bfc4adb"/>
          <a:stretch xmlns:a="http://schemas.openxmlformats.org/drawingml/2006/main"/>
        </p:blipFill>
        <p:spPr>
          <a:xfrm xmlns:a="http://schemas.openxmlformats.org/drawingml/2006/main">
            <a:off x="6343650" y="1450181"/>
            <a:ext cx="5353050" cy="4014788"/>
          </a:xfrm>
          <a:prstGeom xmlns:a="http://schemas.openxmlformats.org/drawingml/2006/main" prst="rect">
            <a:avLst/>
          </a:prstGeom>
        </p:spPr>
      </p:pic>
      <p:sp>
        <p:nvSpPr>
          <p:cNvPr id="6" name="Candidate motion. ASL comprehensibility unrev">
            <a:extLst xmlns:a="http://schemas.openxmlformats.org/drawingml/2006/main">
              <a:ext uri="{FF2B5EF4-FFF2-40B4-BE49-F238E27FC236}">
                <a16:creationId xmlns:a16="http://schemas.microsoft.com/office/drawing/2014/main" id="{CADA03F1-5041-4BD3-B43E-CB88D7D0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512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DC17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EDC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DC17E"/>
                </a:solidFill>
                <a:latin typeface="Helvetica Neue"/>
                <a:ea typeface="Helvetica Neue"/>
                <a:cs typeface="Helvetica Neue"/>
              </a:rPr>
              <a:t>Candidate motion. ASL comprehensibility unreviewed.</a:t>
            </a:r>
          </a:p>
        </p:txBody>
      </p:sp>
    </p:spTree>
    <p:extLst>
      <p:ext uri="{BB962C8B-B14F-4D97-AF65-F5344CB8AC3E}">
        <p14:creationId xmlns:p14="http://schemas.microsoft.com/office/powerpoint/2010/main" val="1487444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blem and project scope">
            <a:extLst xmlns:a="http://schemas.openxmlformats.org/drawingml/2006/main">
              <a:ext uri="{FF2B5EF4-FFF2-40B4-BE49-F238E27FC236}">
                <a16:creationId xmlns:a16="http://schemas.microsoft.com/office/drawing/2014/main" id="{B8184E2D-F78B-4A5D-AE62-6656716F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Problem and project scope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50028D1-6E21-4B20-99F0-BCBF05B9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2612A976-9A8C-4888-8926-572F3257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Proposed setting">
            <a:extLst xmlns:a="http://schemas.openxmlformats.org/drawingml/2006/main">
              <a:ext uri="{FF2B5EF4-FFF2-40B4-BE49-F238E27FC236}">
                <a16:creationId xmlns:a16="http://schemas.microsoft.com/office/drawing/2014/main" id="{EE9F0A82-9827-4BDF-B2E3-9CD34AD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Proposed setting</a:t>
            </a:r>
          </a:p>
        </p:txBody>
      </p:sp>
      <p:sp>
        <p:nvSpPr>
          <p:cNvPr id="5" name="Brief service interactions at a care receptio">
            <a:extLst xmlns:a="http://schemas.openxmlformats.org/drawingml/2006/main">
              <a:ext uri="{FF2B5EF4-FFF2-40B4-BE49-F238E27FC236}">
                <a16:creationId xmlns:a16="http://schemas.microsoft.com/office/drawing/2014/main" id="{884069A0-A0EF-435E-BBE1-E0A2A3DC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4006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Brief service interactions at a care reception desk.</a:t>
            </a:r>
          </a:p>
        </p:txBody>
      </p:sp>
      <p:sp>
        <p:nvSpPr>
          <p:cNvPr id="6" name="The project tests expression selection and ro">
            <a:extLst xmlns:a="http://schemas.openxmlformats.org/drawingml/2006/main">
              <a:ext uri="{FF2B5EF4-FFF2-40B4-BE49-F238E27FC236}">
                <a16:creationId xmlns:a16="http://schemas.microsoft.com/office/drawing/2014/main" id="{595328A7-0B58-46CD-8AB2-FB5D2F1D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2101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The project tests expression selection and robot motion. It has no clinical outcome evidence.</a:t>
            </a:r>
          </a:p>
        </p:txBody>
      </p:sp>
      <p:sp>
        <p:nvSpPr>
          <p:cNvPr id="7" name="Design alternatives">
            <a:extLst xmlns:a="http://schemas.openxmlformats.org/drawingml/2006/main">
              <a:ext uri="{FF2B5EF4-FFF2-40B4-BE49-F238E27FC236}">
                <a16:creationId xmlns:a16="http://schemas.microsoft.com/office/drawing/2014/main" id="{D7A3F9CB-5E1A-486E-B38E-B28D5B28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76375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Design alternatives</a:t>
            </a:r>
          </a:p>
        </p:txBody>
      </p:sp>
      <p:sp>
        <p:nvSpPr>
          <p:cNvPr id="8" name="Text display: no robot motion&#10;Human signing: ">
            <a:extLst xmlns:a="http://schemas.openxmlformats.org/drawingml/2006/main">
              <a:ext uri="{FF2B5EF4-FFF2-40B4-BE49-F238E27FC236}">
                <a16:creationId xmlns:a16="http://schemas.microsoft.com/office/drawing/2014/main" id="{9B5FF04D-BD82-446F-AAB5-F66F8F29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9775"/>
            <a:ext cx="48577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Text display: no robot motion</a:t>
            </a:r>
          </a:p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Human signing: reference for meaning</a:t>
            </a:r>
          </a:p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Robot candidate: repeatable motion to inspect</a:t>
            </a:r>
          </a:p>
        </p:txBody>
      </p:sp>
      <p:sp>
        <p:nvSpPr>
          <p:cNvPr id="9" name="Current vocabulary">
            <a:extLst xmlns:a="http://schemas.openxmlformats.org/drawingml/2006/main">
              <a:ext uri="{FF2B5EF4-FFF2-40B4-BE49-F238E27FC236}">
                <a16:creationId xmlns:a16="http://schemas.microsoft.com/office/drawing/2014/main" id="{518E95E0-BEFA-448C-B4A9-C7854433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Current vocabulary</a:t>
            </a:r>
          </a:p>
        </p:txBody>
      </p:sp>
      <p:sp>
        <p:nvSpPr>
          <p:cNvPr id="10" name="HELLO&#10;THANK_YOU&#10;PLEASE_WAIT">
            <a:extLst xmlns:a="http://schemas.openxmlformats.org/drawingml/2006/main">
              <a:ext uri="{FF2B5EF4-FFF2-40B4-BE49-F238E27FC236}">
                <a16:creationId xmlns:a16="http://schemas.microsoft.com/office/drawing/2014/main" id="{1CABBC7A-CBF1-41EC-A2DD-C219B3D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HELLO</a:t>
            </a:r>
          </a:p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THANK_YOU</a:t>
            </a:r>
          </a:p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PLEASE_WAIT</a:t>
            </a:r>
          </a:p>
        </p:txBody>
      </p:sp>
      <p:sp>
        <p:nvSpPr>
          <p:cNvPr id="11" name="PLEASE_WAIT currently approximates the WAIT w">
            <a:extLst xmlns:a="http://schemas.openxmlformats.org/drawingml/2006/main">
              <a:ext uri="{FF2B5EF4-FFF2-40B4-BE49-F238E27FC236}">
                <a16:creationId xmlns:a16="http://schemas.microsoft.com/office/drawing/2014/main" id="{99F0892C-C6CD-49C6-8F42-C593E470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PLEASE_WAIT currently approximates the WAIT word example.</a:t>
            </a:r>
          </a:p>
        </p:txBody>
      </p:sp>
    </p:spTree>
    <p:extLst>
      <p:ext uri="{BB962C8B-B14F-4D97-AF65-F5344CB8AC3E}">
        <p14:creationId xmlns:p14="http://schemas.microsoft.com/office/powerpoint/2010/main" val="1601467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ystem architecture">
            <a:extLst xmlns:a="http://schemas.openxmlformats.org/drawingml/2006/main">
              <a:ext uri="{FF2B5EF4-FFF2-40B4-BE49-F238E27FC236}">
                <a16:creationId xmlns:a16="http://schemas.microsoft.com/office/drawing/2014/main" id="{23D18133-9F67-4389-B856-046499D2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31583393-879D-4E93-B419-1A083CD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CDB4242D-CDFF-45D9-836D-E2663E64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2CA33D0-1414-4C6A-BAC3-91B4361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English input or phrase button">
            <a:extLst xmlns:a="http://schemas.openxmlformats.org/drawingml/2006/main">
              <a:ext uri="{FF2B5EF4-FFF2-40B4-BE49-F238E27FC236}">
                <a16:creationId xmlns:a16="http://schemas.microsoft.com/office/drawing/2014/main" id="{11470B49-6E39-4AA5-A18B-B3ADE5A4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8590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English input or phrase button</a:t>
            </a:r>
          </a:p>
        </p:txBody>
      </p:sp>
      <p:sp>
        <p:nvSpPr>
          <p:cNvPr id="6" name="One complete meaning">
            <a:extLst xmlns:a="http://schemas.openxmlformats.org/drawingml/2006/main">
              <a:ext uri="{FF2B5EF4-FFF2-40B4-BE49-F238E27FC236}">
                <a16:creationId xmlns:a16="http://schemas.microsoft.com/office/drawing/2014/main" id="{31F995A2-C783-43E8-96CA-19AB98F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14475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One complete meaning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D70734C-0A71-4E49-A70A-FE02ABD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Shared guard and selector">
            <a:extLst xmlns:a="http://schemas.openxmlformats.org/drawingml/2006/main">
              <a:ext uri="{FF2B5EF4-FFF2-40B4-BE49-F238E27FC236}">
                <a16:creationId xmlns:a16="http://schemas.microsoft.com/office/drawing/2014/main" id="{DD7C7872-601A-42E4-BCE1-06B9771E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52675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Shared guard and selector</a:t>
            </a:r>
          </a:p>
        </p:txBody>
      </p:sp>
      <p:sp>
        <p:nvSpPr>
          <p:cNvPr id="9" name="execute / clarify / unsupported / error">
            <a:extLst xmlns:a="http://schemas.openxmlformats.org/drawingml/2006/main">
              <a:ext uri="{FF2B5EF4-FFF2-40B4-BE49-F238E27FC236}">
                <a16:creationId xmlns:a16="http://schemas.microsoft.com/office/drawing/2014/main" id="{5A6B3F1C-645C-4656-AD11-231B88D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81250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execute / clarify / unsupported / error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211B61A-5CCD-442A-8B0A-98B53A47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Action ID contract">
            <a:extLst xmlns:a="http://schemas.openxmlformats.org/drawingml/2006/main">
              <a:ext uri="{FF2B5EF4-FFF2-40B4-BE49-F238E27FC236}">
                <a16:creationId xmlns:a16="http://schemas.microsoft.com/office/drawing/2014/main" id="{180CC242-4CD0-4519-9E65-5030C50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Action ID contract</a:t>
            </a:r>
          </a:p>
        </p:txBody>
      </p:sp>
      <p:sp>
        <p:nvSpPr>
          <p:cNvPr id="12" name="HELLO / THANK_YOU / PLEASE_WAIT">
            <a:extLst xmlns:a="http://schemas.openxmlformats.org/drawingml/2006/main">
              <a:ext uri="{FF2B5EF4-FFF2-40B4-BE49-F238E27FC236}">
                <a16:creationId xmlns:a16="http://schemas.microsoft.com/office/drawing/2014/main" id="{6EB5744E-B123-474E-A984-C5D412E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48025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HELLO / THANK_YOU / PLEASE_WAIT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F726D2DB-7591-4B94-AF75-0D85B1D5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Independent preview permission">
            <a:extLst xmlns:a="http://schemas.openxmlformats.org/drawingml/2006/main">
              <a:ext uri="{FF2B5EF4-FFF2-40B4-BE49-F238E27FC236}">
                <a16:creationId xmlns:a16="http://schemas.microsoft.com/office/drawing/2014/main" id="{32882368-8147-47AE-A93F-0AEA000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86225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Independent preview permission</a:t>
            </a:r>
          </a:p>
        </p:txBody>
      </p:sp>
      <p:sp>
        <p:nvSpPr>
          <p:cNvPr id="15" name="Unreviewed motion blocked by default">
            <a:extLst xmlns:a="http://schemas.openxmlformats.org/drawingml/2006/main">
              <a:ext uri="{FF2B5EF4-FFF2-40B4-BE49-F238E27FC236}">
                <a16:creationId xmlns:a16="http://schemas.microsoft.com/office/drawing/2014/main" id="{065DF91D-031A-4A56-80A2-AF04A9F0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14800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Unreviewed motion blocked by default</a:t>
            </a:r>
          </a:p>
        </p:txBody>
      </p:sp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D0DDAF37-8642-4AE4-91A8-AEC683E3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MuJoCo trajectory and video">
            <a:extLst xmlns:a="http://schemas.openxmlformats.org/drawingml/2006/main">
              <a:ext uri="{FF2B5EF4-FFF2-40B4-BE49-F238E27FC236}">
                <a16:creationId xmlns:a16="http://schemas.microsoft.com/office/drawing/2014/main" id="{DD6E30CE-24AB-42B4-805D-5CEDC85B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MuJoCo trajectory and video</a:t>
            </a:r>
          </a:p>
        </p:txBody>
      </p:sp>
      <p:sp>
        <p:nvSpPr>
          <p:cNvPr id="18" name="Named joints and timestamped positions">
            <a:extLst xmlns:a="http://schemas.openxmlformats.org/drawingml/2006/main">
              <a:ext uri="{FF2B5EF4-FFF2-40B4-BE49-F238E27FC236}">
                <a16:creationId xmlns:a16="http://schemas.microsoft.com/office/drawing/2014/main" id="{1291C140-55B5-40CA-BADF-4F9F826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81575"/>
            <a:ext cx="439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Named joints and timestamped positions</a:t>
            </a:r>
          </a:p>
        </p:txBody>
      </p:sp>
      <p:sp>
        <p:nvSpPr>
          <p:cNvPr id="19" name="The selector returns an ID. It never generate">
            <a:extLst xmlns:a="http://schemas.openxmlformats.org/drawingml/2006/main">
              <a:ext uri="{FF2B5EF4-FFF2-40B4-BE49-F238E27FC236}">
                <a16:creationId xmlns:a16="http://schemas.microsoft.com/office/drawing/2014/main" id="{1A7185E9-E865-4C2E-954C-2EAB0A4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721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The selector returns an ID. It never generates joint commands.</a:t>
            </a:r>
          </a:p>
        </p:txBody>
      </p:sp>
    </p:spTree>
    <p:extLst>
      <p:ext uri="{BB962C8B-B14F-4D97-AF65-F5344CB8AC3E}">
        <p14:creationId xmlns:p14="http://schemas.microsoft.com/office/powerpoint/2010/main" val="1860629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obot model and control boundary">
            <a:extLst xmlns:a="http://schemas.openxmlformats.org/drawingml/2006/main">
              <a:ext uri="{FF2B5EF4-FFF2-40B4-BE49-F238E27FC236}">
                <a16:creationId xmlns:a16="http://schemas.microsoft.com/office/drawing/2014/main" id="{F70D637C-B7E9-448A-80EE-319A0FC6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Robot model and control boundary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46D61E0-2861-45EC-AD11-581E5182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B816F13-EA7C-4E54-A07E-7B6AF06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95531-BEB0-47F1-8ECE-8499A37DEA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97001e2e54d27"/>
          <a:stretch xmlns:a="http://schemas.openxmlformats.org/drawingml/2006/main"/>
        </p:blipFill>
        <p:spPr>
          <a:xfrm xmlns:a="http://schemas.openxmlformats.org/drawingml/2006/main">
            <a:off x="6192838" y="1533525"/>
            <a:ext cx="54356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Unitree G1 + Inspire DFQ">
            <a:extLst xmlns:a="http://schemas.openxmlformats.org/drawingml/2006/main">
              <a:ext uri="{FF2B5EF4-FFF2-40B4-BE49-F238E27FC236}">
                <a16:creationId xmlns:a16="http://schemas.microsoft.com/office/drawing/2014/main" id="{908ED293-9377-446A-BE6D-616B96CB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673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Unitree G1 + Inspire DFQ</a:t>
            </a:r>
          </a:p>
        </p:txBody>
      </p:sp>
      <p:sp>
        <p:nvSpPr>
          <p:cNvPr id="6" name="53 scalar joint coordinates&#10;12 retained mimic">
            <a:extLst xmlns:a="http://schemas.openxmlformats.org/drawingml/2006/main">
              <a:ext uri="{FF2B5EF4-FFF2-40B4-BE49-F238E27FC236}">
                <a16:creationId xmlns:a16="http://schemas.microsoft.com/office/drawing/2014/main" id="{3E2204A3-C827-4AD1-950F-1CBC1C21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95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53 scalar joint coordinates</a:t>
            </a:r>
          </a:p>
          <a:p xmlns:a="http://schemas.openxmlformats.org/drawingml/2006/main">
            <a: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12 retained mimic relations</a:t>
            </a:r>
          </a:p>
          <a:p xmlns:a="http://schemas.openxmlformats.org/drawingml/2006/main">
            <a:pPr algn="l">
              <a:def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0 actuators in this scene</a:t>
            </a:r>
          </a:p>
        </p:txBody>
      </p:sp>
      <p:sp>
        <p:nvSpPr>
          <p:cNvPr id="7" name="Fixed base with kinematic qpos replay. Couple">
            <a:extLst xmlns:a="http://schemas.openxmlformats.org/drawingml/2006/main">
              <a:ext uri="{FF2B5EF4-FFF2-40B4-BE49-F238E27FC236}">
                <a16:creationId xmlns:a16="http://schemas.microsoft.com/office/drawing/2014/main" id="{143F990A-0486-4A30-8799-89F68825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49815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Fixed base with kinematic qpos replay. Coupled fingers limit independent handshape control.</a:t>
            </a:r>
          </a:p>
        </p:txBody>
      </p:sp>
      <p:sp>
        <p:nvSpPr>
          <p:cNvPr id="8" name="Dynamics and ASL comprehension remain unteste">
            <a:extLst xmlns:a="http://schemas.openxmlformats.org/drawingml/2006/main">
              <a:ext uri="{FF2B5EF4-FFF2-40B4-BE49-F238E27FC236}">
                <a16:creationId xmlns:a16="http://schemas.microsoft.com/office/drawing/2014/main" id="{7FD368CE-C168-411B-A535-FDA30E1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Dynamics and ASL comprehension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345128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ideo references guide qualitative calibratio">
            <a:extLst xmlns:a="http://schemas.openxmlformats.org/drawingml/2006/main">
              <a:ext uri="{FF2B5EF4-FFF2-40B4-BE49-F238E27FC236}">
                <a16:creationId xmlns:a16="http://schemas.microsoft.com/office/drawing/2014/main" id="{B2D187DA-EA9D-4E94-B340-4CF083C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Video references guide qualitative calibration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7FF61F9-78E2-4530-A5AB-C62C1FE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5193706-0E79-4FF8-B0FB-3CA0CE8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86B81-DAB2-4103-9EA8-6CB359BB1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e36fae4614b5e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3505200" cy="2628900"/>
          </a:xfrm>
          <a:prstGeom xmlns:a="http://schemas.openxmlformats.org/drawingml/2006/main" prst="rect">
            <a:avLst/>
          </a:prstGeom>
        </p:spPr>
      </p:pic>
      <p:sp>
        <p:nvSpPr>
          <p:cNvPr id="5" name="Near lower-face proxy">
            <a:extLst xmlns:a="http://schemas.openxmlformats.org/drawingml/2006/main">
              <a:ext uri="{FF2B5EF4-FFF2-40B4-BE49-F238E27FC236}">
                <a16:creationId xmlns:a16="http://schemas.microsoft.com/office/drawing/2014/main" id="{D2511F23-6906-41D9-B778-E87A06B4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Near lower-face proxy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DC342-3EAC-452A-88A3-4856227916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0ebf9ad044d99"/>
          <a:stretch xmlns:a="http://schemas.openxmlformats.org/drawingml/2006/main"/>
        </p:blipFill>
        <p:spPr>
          <a:xfrm xmlns:a="http://schemas.openxmlformats.org/drawingml/2006/main">
            <a:off x="4343400" y="1504950"/>
            <a:ext cx="3505200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Forward and slightly down">
            <a:extLst xmlns:a="http://schemas.openxmlformats.org/drawingml/2006/main">
              <a:ext uri="{FF2B5EF4-FFF2-40B4-BE49-F238E27FC236}">
                <a16:creationId xmlns:a16="http://schemas.microsoft.com/office/drawing/2014/main" id="{5D3C79B8-5924-41CD-9654-15ECCCD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957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Forward and slightly down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8C457-19FD-43EF-805E-102D5B965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85129be86404b"/>
          <a:stretch xmlns:a="http://schemas.openxmlformats.org/drawingml/2006/main"/>
        </p:blipFill>
        <p:spPr>
          <a:xfrm xmlns:a="http://schemas.openxmlformats.org/drawingml/2006/main">
            <a:off x="8077200" y="1504950"/>
            <a:ext cx="3505200" cy="2628900"/>
          </a:xfrm>
          <a:prstGeom xmlns:a="http://schemas.openxmlformats.org/drawingml/2006/main" prst="rect">
            <a:avLst/>
          </a:prstGeom>
        </p:spPr>
      </p:pic>
      <p:sp>
        <p:nvSpPr>
          <p:cNvPr id="9" name="Final palm faces up">
            <a:extLst xmlns:a="http://schemas.openxmlformats.org/drawingml/2006/main">
              <a:ext uri="{FF2B5EF4-FFF2-40B4-BE49-F238E27FC236}">
                <a16:creationId xmlns:a16="http://schemas.microsoft.com/office/drawing/2014/main" id="{82632308-7867-44DD-9C2D-278F2A9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Final palm faces up</a:t>
            </a:r>
          </a:p>
        </p:txBody>
      </p:sp>
      <p:sp>
        <p:nvSpPr>
          <p:cNvPr id="10" name="ASLU video observations: 0.916 s, 1.116 s and">
            <a:extLst xmlns:a="http://schemas.openxmlformats.org/drawingml/2006/main">
              <a:ext uri="{FF2B5EF4-FFF2-40B4-BE49-F238E27FC236}">
                <a16:creationId xmlns:a16="http://schemas.microsoft.com/office/drawing/2014/main" id="{03278207-7B48-4AE1-8E26-D6901C3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ASLU video observations: 0.916 s, 1.116 s and 1.516 s</a:t>
            </a:r>
          </a:p>
        </p:txBody>
      </p:sp>
      <p:sp>
        <p:nvSpPr>
          <p:cNvPr id="11" name="Human video provides qualitative references. ">
            <a:extLst xmlns:a="http://schemas.openxmlformats.org/drawingml/2006/main">
              <a:ext uri="{FF2B5EF4-FFF2-40B4-BE49-F238E27FC236}">
                <a16:creationId xmlns:a16="http://schemas.microsoft.com/office/drawing/2014/main" id="{F94C1E51-A894-466A-9B49-AE969FF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744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Human video provides qualitative references. Robot keyframes use manual engineering targets.</a:t>
            </a:r>
          </a:p>
        </p:txBody>
      </p:sp>
    </p:spTree>
    <p:extLst>
      <p:ext uri="{BB962C8B-B14F-4D97-AF65-F5344CB8AC3E}">
        <p14:creationId xmlns:p14="http://schemas.microsoft.com/office/powerpoint/2010/main" val="21111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otion construction and checks">
            <a:extLst xmlns:a="http://schemas.openxmlformats.org/drawingml/2006/main">
              <a:ext uri="{FF2B5EF4-FFF2-40B4-BE49-F238E27FC236}">
                <a16:creationId xmlns:a16="http://schemas.microsoft.com/office/drawing/2014/main" id="{5452E70A-1595-4A0E-A468-2271C51D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Motion construction and checks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F1BAB5C-E7A7-4979-94E0-CF341327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CDC13293-E8DF-451E-A675-C00147E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Manual wrist targets">
            <a:extLst xmlns:a="http://schemas.openxmlformats.org/drawingml/2006/main">
              <a:ext uri="{FF2B5EF4-FFF2-40B4-BE49-F238E27FC236}">
                <a16:creationId xmlns:a16="http://schemas.microsoft.com/office/drawing/2014/main" id="{75D63F18-00BE-47F5-8A30-6D87FEB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372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Manual wrist targets</a:t>
            </a:r>
          </a:p>
        </p:txBody>
      </p:sp>
      <p:sp>
        <p:nvSpPr>
          <p:cNvPr id="5" name="Bounded inverse kinematics fits position and ">
            <a:extLst xmlns:a="http://schemas.openxmlformats.org/drawingml/2006/main">
              <a:ext uri="{FF2B5EF4-FFF2-40B4-BE49-F238E27FC236}">
                <a16:creationId xmlns:a16="http://schemas.microsoft.com/office/drawing/2014/main" id="{297C98D5-9568-4921-8784-5BECF55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95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Bounded inverse kinematics fits position and orientation while limiting posture change.</a:t>
            </a:r>
          </a:p>
        </p:txBody>
      </p:sp>
      <p:sp>
        <p:nvSpPr>
          <p:cNvPr id="6" name="q(u) = (1 − s) q₀ + s q₁&#10;s(u) = 3u² − 2u³">
            <a:extLst xmlns:a="http://schemas.openxmlformats.org/drawingml/2006/main">
              <a:ext uri="{FF2B5EF4-FFF2-40B4-BE49-F238E27FC236}">
                <a16:creationId xmlns:a16="http://schemas.microsoft.com/office/drawing/2014/main" id="{E4212745-FA62-4D6F-8A1E-B45894FB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305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q(u) = (1 − s) q₀ + s q₁</a:t>
            </a:r>
          </a:p>
          <a:p xmlns:a="http://schemas.openxmlformats.org/drawingml/2006/main">
            <a:pPr algn="l">
              <a:def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s(u) = 3u² − 2u³</a:t>
            </a:r>
          </a:p>
        </p:txBody>
      </p:sp>
      <p:sp>
        <p:nvSpPr>
          <p:cNvPr id="7" name="u is normalized segment time.&#10;Zero endpoint v">
            <a:extLst xmlns:a="http://schemas.openxmlformats.org/drawingml/2006/main">
              <a:ext uri="{FF2B5EF4-FFF2-40B4-BE49-F238E27FC236}">
                <a16:creationId xmlns:a16="http://schemas.microsoft.com/office/drawing/2014/main" id="{9495AE09-715F-4AF6-B2F8-CE4EE00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u is normalized segment time.</a:t>
            </a:r>
          </a:p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Zero endpoint velocity does not ensure continuous acceleration.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70233-2DB9-4F4D-A361-9967C1654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57b76c9174c1e"/>
          <a:stretch xmlns:a="http://schemas.openxmlformats.org/drawingml/2006/main"/>
        </p:blipFill>
        <p:spPr>
          <a:xfrm xmlns:a="http://schemas.openxmlformats.org/drawingml/2006/main">
            <a:off x="6372225" y="1582341"/>
            <a:ext cx="5191125" cy="3893344"/>
          </a:xfrm>
          <a:prstGeom xmlns:a="http://schemas.openxmlformats.org/drawingml/2006/main" prst="rect">
            <a:avLst/>
          </a:prstGeom>
        </p:spPr>
      </p:pic>
      <p:sp>
        <p:nvSpPr>
          <p:cNvPr id="9" name="WAIT remains a coupled-finger approximation.">
            <a:extLst xmlns:a="http://schemas.openxmlformats.org/drawingml/2006/main">
              <a:ext uri="{FF2B5EF4-FFF2-40B4-BE49-F238E27FC236}">
                <a16:creationId xmlns:a16="http://schemas.microsoft.com/office/drawing/2014/main" id="{62D840EC-E9D9-406C-A0C1-46143181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6197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WAIT remains a coupled-finger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1948897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ree selectors share one interface">
            <a:extLst xmlns:a="http://schemas.openxmlformats.org/drawingml/2006/main">
              <a:ext uri="{FF2B5EF4-FFF2-40B4-BE49-F238E27FC236}">
                <a16:creationId xmlns:a16="http://schemas.microsoft.com/office/drawing/2014/main" id="{D6D9CA2A-8AD8-46E0-99F0-9E01D24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Three selectors share one interface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58186DD-3F82-46D9-97D9-F3C6788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BC5A18E-BA64-4A5E-A3D4-9E77B18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91F0-A812-4584-B35E-2A8D9A8E584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257675"/>
              </a:tblGrid>
              <a:tr h="8143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Mechanism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limitation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matching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registered phrase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shared guard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paraphrase coverage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384-dimensional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sentence embeddings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Thresholds can reject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paraphrases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8143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LLM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 five-label output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from existing Q8 checkpoint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choices and</a:t>
                      </a:r>
                    </a:p>
                    <a:p>
                      <a:r>
                        <a:rPr sz="1875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labels observed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</a:tbl>
          </a:graphicData>
        </a:graphic>
      </p:graphicFrame>
      <p:sp>
        <p:nvSpPr>
          <p:cNvPr id="5" name="All methods return the same allowed ID or a n">
            <a:extLst xmlns:a="http://schemas.openxmlformats.org/drawingml/2006/main">
              <a:ext uri="{FF2B5EF4-FFF2-40B4-BE49-F238E27FC236}">
                <a16:creationId xmlns:a16="http://schemas.microsoft.com/office/drawing/2014/main" id="{C942E67E-5525-489A-AE5D-81B05963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All methods return the same allowed ID or a non-execution status.</a:t>
            </a:r>
          </a:p>
        </p:txBody>
      </p:sp>
      <p:sp>
        <p:nvSpPr>
          <p:cNvPr id="6" name="Default demo: exact or MiniLM. LLM remains di">
            <a:extLst xmlns:a="http://schemas.openxmlformats.org/drawingml/2006/main">
              <a:ext uri="{FF2B5EF4-FFF2-40B4-BE49-F238E27FC236}">
                <a16:creationId xmlns:a16="http://schemas.microsoft.com/office/drawing/2014/main" id="{AE6E6127-9D55-43D7-8F52-28E66E9B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87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Default demo: exact or MiniLM. LLM remains disabled after its development gate failed.</a:t>
            </a:r>
          </a:p>
        </p:txBody>
      </p:sp>
    </p:spTree>
    <p:extLst>
      <p:ext uri="{BB962C8B-B14F-4D97-AF65-F5344CB8AC3E}">
        <p14:creationId xmlns:p14="http://schemas.microsoft.com/office/powerpoint/2010/main" val="2056184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ozen text evaluation">
            <a:extLst xmlns:a="http://schemas.openxmlformats.org/drawingml/2006/main">
              <a:ext uri="{FF2B5EF4-FFF2-40B4-BE49-F238E27FC236}">
                <a16:creationId xmlns:a16="http://schemas.microsoft.com/office/drawing/2014/main" id="{EC4BFEFA-2840-4730-A781-AEA8C345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Frozen text evaluation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3344169B-F3F9-4850-A290-F31F4B17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FF28B0E9-6122-45D3-A1A5-1BD83A1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60 cases: 30 supported and 30 out of scope">
            <a:extLst xmlns:a="http://schemas.openxmlformats.org/drawingml/2006/main">
              <a:ext uri="{FF2B5EF4-FFF2-40B4-BE49-F238E27FC236}">
                <a16:creationId xmlns:a16="http://schemas.microsoft.com/office/drawing/2014/main" id="{EA6EBA40-F416-4082-85AD-345B77E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68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60 cases: 30 supported and 30 out of scope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DA907EC-0488-4464-928A-AABA74BFE3A2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721995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804f3386b14ab8"/>
          </a:graphicData>
        </a:graphic>
      </p:graphicFrame>
      <p:sp>
        <p:nvSpPr>
          <p:cNvPr id="6" name="18 development cases">
            <a:extLst xmlns:a="http://schemas.openxmlformats.org/drawingml/2006/main">
              <a:ext uri="{FF2B5EF4-FFF2-40B4-BE49-F238E27FC236}">
                <a16:creationId xmlns:a16="http://schemas.microsoft.com/office/drawing/2014/main" id="{FF35C89C-C19E-41B0-A5B1-F5DF0CB2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193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18 development cases</a:t>
            </a:r>
          </a:p>
        </p:txBody>
      </p:sp>
      <p:sp>
        <p:nvSpPr>
          <p:cNvPr id="7" name="Test frozen before evaluation">
            <a:extLst xmlns:a="http://schemas.openxmlformats.org/drawingml/2006/main">
              <a:ext uri="{FF2B5EF4-FFF2-40B4-BE49-F238E27FC236}">
                <a16:creationId xmlns:a16="http://schemas.microsoft.com/office/drawing/2014/main" id="{E8EDCE3D-B630-460B-95A7-D9BD039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099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Test frozen before evaluation</a:t>
            </a:r>
          </a:p>
        </p:txBody>
      </p:sp>
      <p:sp>
        <p:nvSpPr>
          <p:cNvPr id="8" name="Agent-drafted labels&#10;Human review pending">
            <a:extLst xmlns:a="http://schemas.openxmlformats.org/drawingml/2006/main">
              <a:ext uri="{FF2B5EF4-FFF2-40B4-BE49-F238E27FC236}">
                <a16:creationId xmlns:a16="http://schemas.microsoft.com/office/drawing/2014/main" id="{E022FC14-ABF7-491B-ACAC-80DCFC1A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57700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Agent-drafted labels</a:t>
            </a:r>
          </a:p>
          <a:p xmlns:a="http://schemas.openxmlformats.org/drawingml/2006/main">
            <a:pPr algn="l">
              <a:def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Human review pending</a:t>
            </a:r>
          </a:p>
        </p:txBody>
      </p:sp>
      <p:sp>
        <p:nvSpPr>
          <p:cNvPr id="9" name="Correct behavior includes correct rejection. ">
            <a:extLst xmlns:a="http://schemas.openxmlformats.org/drawingml/2006/main">
              <a:ext uri="{FF2B5EF4-FFF2-40B4-BE49-F238E27FC236}">
                <a16:creationId xmlns:a16="http://schemas.microsoft.com/office/drawing/2014/main" id="{AAEBD426-0AD9-49AB-935C-1DA6D3C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0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Correct behavior includes correct rejection. This metric does not measure ASL comprehension.</a:t>
            </a:r>
          </a:p>
        </p:txBody>
      </p:sp>
    </p:spTree>
    <p:extLst>
      <p:ext uri="{BB962C8B-B14F-4D97-AF65-F5344CB8AC3E}">
        <p14:creationId xmlns:p14="http://schemas.microsoft.com/office/powerpoint/2010/main" val="1566671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LLM score includes incorrect execution">
            <a:extLst xmlns:a="http://schemas.openxmlformats.org/drawingml/2006/main">
              <a:ext uri="{FF2B5EF4-FFF2-40B4-BE49-F238E27FC236}">
                <a16:creationId xmlns:a16="http://schemas.microsoft.com/office/drawing/2014/main" id="{ADBD00BB-4D49-411F-AF3C-5AFFDC6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The LLM score includes incorrect execution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62DCE2A-E097-444B-97ED-0C952FA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5B4A2BF8-9F7C-4616-A0F0-FF2B82F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0EC1F-D965-4C3F-8020-5A080BD7E8DA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1752600"/>
                <a:gridCol w="1752600"/>
                <a:gridCol w="1943100"/>
              </a:tblGrid>
              <a:tr h="66865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LLM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input selected correctly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ID on supported input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Execution on out-of-scope input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/ 30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output / runtime error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60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/ 60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/ 60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35 actual LLM calls">
            <a:extLst xmlns:a="http://schemas.openxmlformats.org/drawingml/2006/main">
              <a:ext uri="{FF2B5EF4-FFF2-40B4-BE49-F238E27FC236}">
                <a16:creationId xmlns:a16="http://schemas.microsoft.com/office/drawing/2014/main" id="{3D2EE958-BCF5-416F-B9DE-2AAF9187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35 actual LLM calls</a:t>
            </a:r>
          </a:p>
        </p:txBody>
      </p:sp>
      <p:sp>
        <p:nvSpPr>
          <p:cNvPr id="6" name="25 cases ended in the shared guard">
            <a:extLst xmlns:a="http://schemas.openxmlformats.org/drawingml/2006/main">
              <a:ext uri="{FF2B5EF4-FFF2-40B4-BE49-F238E27FC236}">
                <a16:creationId xmlns:a16="http://schemas.microsoft.com/office/drawing/2014/main" id="{20A466D2-3602-4657-BFAA-42E69A1E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551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25 cases ended in the shared guard</a:t>
            </a:r>
          </a:p>
        </p:txBody>
      </p:sp>
      <p:sp>
        <p:nvSpPr>
          <p:cNvPr id="7" name="The LLM remains disabled by default. Small-sa">
            <a:extLst xmlns:a="http://schemas.openxmlformats.org/drawingml/2006/main">
              <a:ext uri="{FF2B5EF4-FFF2-40B4-BE49-F238E27FC236}">
                <a16:creationId xmlns:a16="http://schemas.microsoft.com/office/drawing/2014/main" id="{6117B445-DD6F-44F1-AB76-877CBEE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620D"/>
                </a:solidFill>
                <a:latin typeface="Helvetica Neue"/>
                <a:ea typeface="Helvetica Neue"/>
                <a:cs typeface="Helvetica Neue"/>
              </a:rPr>
              <a:t>The LLM remains disabled by default. Small-sample zero counts do not establish zero risk.</a:t>
            </a:r>
          </a:p>
        </p:txBody>
      </p:sp>
    </p:spTree>
    <p:extLst>
      <p:ext uri="{BB962C8B-B14F-4D97-AF65-F5344CB8AC3E}">
        <p14:creationId xmlns:p14="http://schemas.microsoft.com/office/powerpoint/2010/main" val="2130832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monstration and failure behavior">
            <a:extLst xmlns:a="http://schemas.openxmlformats.org/drawingml/2006/main">
              <a:ext uri="{FF2B5EF4-FFF2-40B4-BE49-F238E27FC236}">
                <a16:creationId xmlns:a16="http://schemas.microsoft.com/office/drawing/2014/main" id="{21E848A7-DA3D-4508-B3AF-AA488219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Demonstration and failure behavior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CDCD7DD-8777-4236-A7EC-45E5E9D2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5693AB18-6E91-461A-BEA4-CFB3BFB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1   “Thank you.”">
            <a:extLst xmlns:a="http://schemas.openxmlformats.org/drawingml/2006/main">
              <a:ext uri="{FF2B5EF4-FFF2-40B4-BE49-F238E27FC236}">
                <a16:creationId xmlns:a16="http://schemas.microsoft.com/office/drawing/2014/main" id="{847C4F25-C381-43E7-8B3B-ED9635E3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1   “Thank you.”</a:t>
            </a:r>
          </a:p>
        </p:txBody>
      </p:sp>
      <p:sp>
        <p:nvSpPr>
          <p:cNvPr id="5" name="Exact match selects THANK_YOU. Preview stays ">
            <a:extLst xmlns:a="http://schemas.openxmlformats.org/drawingml/2006/main">
              <a:ext uri="{FF2B5EF4-FFF2-40B4-BE49-F238E27FC236}">
                <a16:creationId xmlns:a16="http://schemas.microsoft.com/office/drawing/2014/main" id="{0B2192CA-9F4B-417A-A0A8-9A69EA86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6200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Exact match selects THANK_YOU. Preview stays blocked.</a:t>
            </a:r>
          </a:p>
        </p:txBody>
      </p:sp>
      <p:sp>
        <p:nvSpPr>
          <p:cNvPr id="6" name="2   Explicit candidate preview">
            <a:extLst xmlns:a="http://schemas.openxmlformats.org/drawingml/2006/main">
              <a:ext uri="{FF2B5EF4-FFF2-40B4-BE49-F238E27FC236}">
                <a16:creationId xmlns:a16="http://schemas.microsoft.com/office/drawing/2014/main" id="{BA18BE49-9DB5-44D6-A063-58F199C6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2   Explicit candidate preview</a:t>
            </a:r>
          </a:p>
        </p:txBody>
      </p:sp>
      <p:sp>
        <p:nvSpPr>
          <p:cNvPr id="7" name="Research permission enables the pre-rendered ">
            <a:extLst xmlns:a="http://schemas.openxmlformats.org/drawingml/2006/main">
              <a:ext uri="{FF2B5EF4-FFF2-40B4-BE49-F238E27FC236}">
                <a16:creationId xmlns:a16="http://schemas.microsoft.com/office/drawing/2014/main" id="{FA82BAF0-F247-4C7D-86C4-77FDE557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6143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Research permission enables the pre-rendered motion.</a:t>
            </a:r>
          </a:p>
        </p:txBody>
      </p:sp>
      <p:sp>
        <p:nvSpPr>
          <p:cNvPr id="8" name="3   A mixed or negated request">
            <a:extLst xmlns:a="http://schemas.openxmlformats.org/drawingml/2006/main">
              <a:ext uri="{FF2B5EF4-FFF2-40B4-BE49-F238E27FC236}">
                <a16:creationId xmlns:a16="http://schemas.microsoft.com/office/drawing/2014/main" id="{EDD85E51-F563-405E-8F78-C8C0A2F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3   A mixed or negated request</a:t>
            </a:r>
          </a:p>
        </p:txBody>
      </p:sp>
      <p:sp>
        <p:nvSpPr>
          <p:cNvPr id="9" name="The system rejects the input and clears the o">
            <a:extLst xmlns:a="http://schemas.openxmlformats.org/drawingml/2006/main">
              <a:ext uri="{FF2B5EF4-FFF2-40B4-BE49-F238E27FC236}">
                <a16:creationId xmlns:a16="http://schemas.microsoft.com/office/drawing/2014/main" id="{3D3AC9F1-085B-4297-B40E-4E7784E5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6067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The system rejects the input and clears the old video.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76B5E-0C6B-4A72-8964-23DD50E24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2f77d718d4360"/>
          <a:stretch xmlns:a="http://schemas.openxmlformats.org/drawingml/2006/main"/>
        </p:blipFill>
        <p:spPr>
          <a:xfrm xmlns:a="http://schemas.openxmlformats.org/drawingml/2006/main">
            <a:off x="7978084" y="1438275"/>
            <a:ext cx="3531981" cy="4629150"/>
          </a:xfrm>
          <a:prstGeom xmlns:a="http://schemas.openxmlformats.org/drawingml/2006/main" prst="rect">
            <a:avLst/>
          </a:prstGeom>
        </p:spPr>
      </p:pic>
      <p:sp>
        <p:nvSpPr>
          <p:cNvPr id="11" name="Local startup: run_demo.command">
            <a:extLst xmlns:a="http://schemas.openxmlformats.org/drawingml/2006/main">
              <a:ext uri="{FF2B5EF4-FFF2-40B4-BE49-F238E27FC236}">
                <a16:creationId xmlns:a16="http://schemas.microsoft.com/office/drawing/2014/main" id="{81CC7A81-882B-47DF-8D90-66A4D9BE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Local startup: run_demo.command</a:t>
            </a:r>
          </a:p>
        </p:txBody>
      </p:sp>
    </p:spTree>
    <p:extLst>
      <p:ext uri="{BB962C8B-B14F-4D97-AF65-F5344CB8AC3E}">
        <p14:creationId xmlns:p14="http://schemas.microsoft.com/office/powerpoint/2010/main" val="1606911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ix owners and remaining work">
            <a:extLst xmlns:a="http://schemas.openxmlformats.org/drawingml/2006/main">
              <a:ext uri="{FF2B5EF4-FFF2-40B4-BE49-F238E27FC236}">
                <a16:creationId xmlns:a16="http://schemas.microsoft.com/office/drawing/2014/main" id="{D83B4F59-AEE0-453D-B43D-413D960B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Six owners and remaining work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F3BB2B8F-1A92-45B9-B738-66E9581B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6FA6C434-1FC5-404B-8255-BF3468D1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429F8-0606-4413-B2B8-4AB3D993EDAF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9775"/>
                <a:gridCol w="3752850"/>
                <a:gridCol w="5210175"/>
              </a:tblGrid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artifact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acceptance check</a:t>
                      </a:r>
                    </a:p>
                  </a:txBody>
                  <a:tcPr marL="133350" marR="133350" marT="104775" marB="85725" anchor="ctr">
                    <a:solidFill>
                      <a:srgbClr val="007D78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A1  Sources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Video observations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request reference and meaning review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A2  Motion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candidate trajectories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Handshape and view-by-view inspection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  Matching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and local embeddings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reviewed development data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  LLM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Reproducible negative result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protocol before prompt changes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C1  Evaluation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cases and raw outputs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Independent labels and new test set</a:t>
                      </a:r>
                    </a:p>
                  </a:txBody>
                  <a:tcPr marL="133350" marR="133350" marT="104775" marB="85725" anchor="ctr">
                    <a:solidFill>
                      <a:srgbClr val="EDF5F3"/>
                    </a:solidFill>
                  </a:tcPr>
                </a:tc>
              </a:tr>
              <a:tr h="58646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C2  Integration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demo and report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A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Second-computer reproduction</a:t>
                      </a:r>
                    </a:p>
                  </a:txBody>
                  <a:tcPr marL="133350" marR="133350" marT="10477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26–30 Oct: rehearsal materials.  31 Oct–2 Nov">
            <a:extLst xmlns:a="http://schemas.openxmlformats.org/drawingml/2006/main">
              <a:ext uri="{FF2B5EF4-FFF2-40B4-BE49-F238E27FC236}">
                <a16:creationId xmlns:a16="http://schemas.microsoft.com/office/drawing/2014/main" id="{0AC0FBBD-5EDF-4ED3-97E0-43ECCA8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26–30 Oct: rehearsal materials.  31 Oct–2 Nov: final rehearsal.  3 Nov: slides due.</a:t>
            </a:r>
          </a:p>
        </p:txBody>
      </p:sp>
    </p:spTree>
    <p:extLst>
      <p:ext uri="{BB962C8B-B14F-4D97-AF65-F5344CB8AC3E}">
        <p14:creationId xmlns:p14="http://schemas.microsoft.com/office/powerpoint/2010/main" val="1041630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clusions and open questions">
            <a:extLst xmlns:a="http://schemas.openxmlformats.org/drawingml/2006/main">
              <a:ext uri="{FF2B5EF4-FFF2-40B4-BE49-F238E27FC236}">
                <a16:creationId xmlns:a16="http://schemas.microsoft.com/office/drawing/2014/main" id="{787B5070-49AF-4504-9CD5-FA583627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Conclusions and open questions</a:t>
            </a:r>
          </a:p>
        </p:txBody>
      </p:sp>
      <p:sp>
        <p:nvSpPr>
          <p:cNvPr id="2" name="ME5412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BB11D1A-E1CD-43EE-AE2A-28908F5C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ME5412  /  Research prototype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1EFB7EAB-0B32-4C4F-BB14-BEB03F30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Working engineering prototype">
            <a:extLst xmlns:a="http://schemas.openxmlformats.org/drawingml/2006/main">
              <a:ext uri="{FF2B5EF4-FFF2-40B4-BE49-F238E27FC236}">
                <a16:creationId xmlns:a16="http://schemas.microsoft.com/office/drawing/2014/main" id="{D50D3382-5294-432E-B5B8-2DC2830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372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Working engineering prototype</a:t>
            </a:r>
          </a:p>
        </p:txBody>
      </p:sp>
      <p:sp>
        <p:nvSpPr>
          <p:cNvPr id="5" name="Finite ID selection and inspectable robot mot">
            <a:extLst xmlns:a="http://schemas.openxmlformats.org/drawingml/2006/main">
              <a:ext uri="{FF2B5EF4-FFF2-40B4-BE49-F238E27FC236}">
                <a16:creationId xmlns:a16="http://schemas.microsoft.com/office/drawing/2014/main" id="{4F8CC84D-BC37-49DE-95FA-97F68300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70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Finite ID selection and inspectable robot motion run locally.</a:t>
            </a:r>
          </a:p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The shared interface separates language errors from motion errors.</a:t>
            </a:r>
          </a:p>
        </p:txBody>
      </p:sp>
      <p:sp>
        <p:nvSpPr>
          <p:cNvPr id="6" name="Open language question">
            <a:extLst xmlns:a="http://schemas.openxmlformats.org/drawingml/2006/main">
              <a:ext uri="{FF2B5EF4-FFF2-40B4-BE49-F238E27FC236}">
                <a16:creationId xmlns:a16="http://schemas.microsoft.com/office/drawing/2014/main" id="{D50E89B5-26D7-447E-AFDE-0899208F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353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7D78"/>
                </a:solidFill>
                <a:latin typeface="Helvetica Neue"/>
                <a:ea typeface="Helvetica Neue"/>
                <a:cs typeface="Helvetica Neue"/>
              </a:rPr>
              <a:t>Open language question</a:t>
            </a:r>
          </a:p>
        </p:txBody>
      </p:sp>
      <p:sp>
        <p:nvSpPr>
          <p:cNvPr id="7" name="Video-informed geometry remains a candidate.&#10;">
            <a:extLst xmlns:a="http://schemas.openxmlformats.org/drawingml/2006/main">
              <a:ext uri="{FF2B5EF4-FFF2-40B4-BE49-F238E27FC236}">
                <a16:creationId xmlns:a16="http://schemas.microsoft.com/office/drawing/2014/main" id="{8B0A7D3A-B951-4DE4-9B34-DC0AB77D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6775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Video-informed geometry remains a candidate.</a:t>
            </a:r>
          </a:p>
          <a:p xmlns:a="http://schemas.openxmlformats.org/drawingml/2006/main">
            <a:pPr algn="l">
              <a:def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A32"/>
                </a:solidFill>
                <a:latin typeface="Helvetica Neue"/>
                <a:ea typeface="Helvetica Neue"/>
                <a:cs typeface="Helvetica Neue"/>
              </a:rPr>
              <a:t>ASL comprehension and complete WAIT requests need further evidence.</a:t>
            </a:r>
          </a:p>
        </p:txBody>
      </p:sp>
      <p:sp>
        <p:nvSpPr>
          <p:cNvPr id="8" name="Next evidence: reviewed text labels, independ">
            <a:extLst xmlns:a="http://schemas.openxmlformats.org/drawingml/2006/main">
              <a:ext uri="{FF2B5EF4-FFF2-40B4-BE49-F238E27FC236}">
                <a16:creationId xmlns:a16="http://schemas.microsoft.com/office/drawing/2014/main" id="{17E6241A-69C2-430F-B67C-DCC85130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666B"/>
                </a:solidFill>
                <a:latin typeface="Helvetica Neue"/>
                <a:ea typeface="Helvetica Neue"/>
                <a:cs typeface="Helvetica Neue"/>
              </a:rPr>
              <a:t>Next evidence: reviewed text labels, independent reproduction and meaning assessment.</a:t>
            </a:r>
          </a:p>
        </p:txBody>
      </p:sp>
    </p:spTree>
    <p:extLst>
      <p:ext uri="{BB962C8B-B14F-4D97-AF65-F5344CB8AC3E}">
        <p14:creationId xmlns:p14="http://schemas.microsoft.com/office/powerpoint/2010/main" val="1947139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2026-10-08T14:54:24.2960000Z</dcterms:created>
  <dcterms:modified xsi:type="dcterms:W3CDTF">2026-10-08T14:54:24.2960000Z</dcterms:modified>
</coreProperties>
</file>