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6571213ba848da" /><Relationship Type="http://schemas.openxmlformats.org/officeDocument/2006/relationships/extended-properties" Target="/docProps/app.xml" Id="R387de117169641de" /><Relationship Type="http://schemas.openxmlformats.org/officeDocument/2006/relationships/officeDocument" Target="/ppt/presentation.xml" Id="R597c54e056324f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29895e31be436a"/>
  </p:sldMasterIdLst>
  <p:notesMasterIdLst>
    <p:notesMasterId xmlns:r="http://schemas.openxmlformats.org/officeDocument/2006/relationships" r:id="R9b8c90c111454ccf"/>
  </p:notesMasterIdLst>
  <p:sldIdLst>
    <p:sldId xmlns:r="http://schemas.openxmlformats.org/officeDocument/2006/relationships" id="256" r:id="Ra868af5a43e048a9"/>
    <p:sldId xmlns:r="http://schemas.openxmlformats.org/officeDocument/2006/relationships" id="257" r:id="R1803fca9e9ff4b22"/>
    <p:sldId xmlns:r="http://schemas.openxmlformats.org/officeDocument/2006/relationships" id="258" r:id="R055caba7410940d3"/>
    <p:sldId xmlns:r="http://schemas.openxmlformats.org/officeDocument/2006/relationships" id="259" r:id="R9f03d406b6bb4ff4"/>
    <p:sldId xmlns:r="http://schemas.openxmlformats.org/officeDocument/2006/relationships" id="260" r:id="R39c72453c1604253"/>
    <p:sldId xmlns:r="http://schemas.openxmlformats.org/officeDocument/2006/relationships" id="261" r:id="R49fddf4c66c140ba"/>
    <p:sldId xmlns:r="http://schemas.openxmlformats.org/officeDocument/2006/relationships" id="262" r:id="Rd26743dfb07a4b27"/>
    <p:sldId xmlns:r="http://schemas.openxmlformats.org/officeDocument/2006/relationships" id="263" r:id="R0a31db20fa844149"/>
    <p:sldId xmlns:r="http://schemas.openxmlformats.org/officeDocument/2006/relationships" id="264" r:id="R9ece786f1978490b"/>
    <p:sldId xmlns:r="http://schemas.openxmlformats.org/officeDocument/2006/relationships" id="265" r:id="R31d2794f127d4bcb"/>
    <p:sldId xmlns:r="http://schemas.openxmlformats.org/officeDocument/2006/relationships" id="266" r:id="Rfd3a764546d54574"/>
    <p:sldId xmlns:r="http://schemas.openxmlformats.org/officeDocument/2006/relationships" id="267" r:id="Reb39a36325ca4384"/>
    <p:sldId xmlns:r="http://schemas.openxmlformats.org/officeDocument/2006/relationships" id="268" r:id="R24aa6052c76e4c3d"/>
    <p:sldId xmlns:r="http://schemas.openxmlformats.org/officeDocument/2006/relationships" id="269" r:id="R8dc432af86c447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577596721b4646" /><Relationship Type="http://schemas.openxmlformats.org/officeDocument/2006/relationships/slideMaster" Target="/ppt/slideMasters/slideMaster1.xml" Id="R7129895e31be436a" /><Relationship Type="http://schemas.openxmlformats.org/officeDocument/2006/relationships/notesMaster" Target="/ppt/notesMasters/notesMaster1.xml" Id="R9b8c90c111454ccf" /><Relationship Type="http://schemas.openxmlformats.org/officeDocument/2006/relationships/presProps" Target="/ppt/presProps.xml" Id="Rdcc31a747de64670" /><Relationship Type="http://schemas.openxmlformats.org/officeDocument/2006/relationships/tableStyles" Target="/ppt/tableStyles.xml" Id="Rf672ca2a36e0401c" /><Relationship Type="http://schemas.openxmlformats.org/officeDocument/2006/relationships/slide" Target="/ppt/slides/slide1.xml" Id="Ra868af5a43e048a9" /><Relationship Type="http://schemas.openxmlformats.org/officeDocument/2006/relationships/slide" Target="/ppt/slides/slide2.xml" Id="R1803fca9e9ff4b22" /><Relationship Type="http://schemas.openxmlformats.org/officeDocument/2006/relationships/slide" Target="/ppt/slides/slide3.xml" Id="R055caba7410940d3" /><Relationship Type="http://schemas.openxmlformats.org/officeDocument/2006/relationships/slide" Target="/ppt/slides/slide4.xml" Id="R9f03d406b6bb4ff4" /><Relationship Type="http://schemas.openxmlformats.org/officeDocument/2006/relationships/slide" Target="/ppt/slides/slide5.xml" Id="R39c72453c1604253" /><Relationship Type="http://schemas.openxmlformats.org/officeDocument/2006/relationships/slide" Target="/ppt/slides/slide6.xml" Id="R49fddf4c66c140ba" /><Relationship Type="http://schemas.openxmlformats.org/officeDocument/2006/relationships/slide" Target="/ppt/slides/slide7.xml" Id="Rd26743dfb07a4b27" /><Relationship Type="http://schemas.openxmlformats.org/officeDocument/2006/relationships/slide" Target="/ppt/slides/slide8.xml" Id="R0a31db20fa844149" /><Relationship Type="http://schemas.openxmlformats.org/officeDocument/2006/relationships/slide" Target="/ppt/slides/slide9.xml" Id="R9ece786f1978490b" /><Relationship Type="http://schemas.openxmlformats.org/officeDocument/2006/relationships/slide" Target="/ppt/slides/slide10.xml" Id="R31d2794f127d4bcb" /><Relationship Type="http://schemas.openxmlformats.org/officeDocument/2006/relationships/slide" Target="/ppt/slides/slide11.xml" Id="Rfd3a764546d54574" /><Relationship Type="http://schemas.openxmlformats.org/officeDocument/2006/relationships/slide" Target="/ppt/slides/slide12.xml" Id="Reb39a36325ca4384" /><Relationship Type="http://schemas.openxmlformats.org/officeDocument/2006/relationships/slide" Target="/ppt/slides/slide13.xml" Id="R24aa6052c76e4c3d" /><Relationship Type="http://schemas.openxmlformats.org/officeDocument/2006/relationships/slide" Target="/ppt/slides/slide14.xml" Id="R8dc432af86c4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8c616383c1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cb8a0889a451f" /><Relationship Type="http://schemas.openxmlformats.org/officeDocument/2006/relationships/notesMaster" Target="/ppt/notesMasters/notesMaster1.xml" Id="Rb0b178a30125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be21f133246f6" /><Relationship Type="http://schemas.openxmlformats.org/officeDocument/2006/relationships/notesMaster" Target="/ppt/notesMasters/notesMaster1.xml" Id="R8a11ab4d7b1f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16bc5d0144798" /><Relationship Type="http://schemas.openxmlformats.org/officeDocument/2006/relationships/notesMaster" Target="/ppt/notesMasters/notesMaster1.xml" Id="R995ff965a29e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8ac869d22e4793" /><Relationship Type="http://schemas.openxmlformats.org/officeDocument/2006/relationships/notesMaster" Target="/ppt/notesMasters/notesMaster1.xml" Id="Rd1e94669c3414c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bcd396c3ce496d" /><Relationship Type="http://schemas.openxmlformats.org/officeDocument/2006/relationships/notesMaster" Target="/ppt/notesMasters/notesMaster1.xml" Id="R100eca139b2546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947bea46a249db" /><Relationship Type="http://schemas.openxmlformats.org/officeDocument/2006/relationships/notesMaster" Target="/ppt/notesMasters/notesMaster1.xml" Id="Rf1bbe1c98da349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6bd53ef33e4865" /><Relationship Type="http://schemas.openxmlformats.org/officeDocument/2006/relationships/notesMaster" Target="/ppt/notesMasters/notesMaster1.xml" Id="Rc62a8ac24e0342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4fec28662f4e78" /><Relationship Type="http://schemas.openxmlformats.org/officeDocument/2006/relationships/notesMaster" Target="/ppt/notesMasters/notesMaster1.xml" Id="Ra46f72a537e645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b1ce82dfd24e8f" /><Relationship Type="http://schemas.openxmlformats.org/officeDocument/2006/relationships/notesMaster" Target="/ppt/notesMasters/notesMaster1.xml" Id="R7da19105b4ea41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500a5cfc5e45d8" /><Relationship Type="http://schemas.openxmlformats.org/officeDocument/2006/relationships/notesMaster" Target="/ppt/notesMasters/notesMaster1.xml" Id="Rd115aa551f4f4d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90c4bd0018468a" /><Relationship Type="http://schemas.openxmlformats.org/officeDocument/2006/relationships/notesMaster" Target="/ppt/notesMasters/notesMaster1.xml" Id="Rf5d23b78373244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e77b6ade5a4114" /><Relationship Type="http://schemas.openxmlformats.org/officeDocument/2006/relationships/notesMaster" Target="/ppt/notesMasters/notesMaster1.xml" Id="Rba4781b1d62a44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335bef242241ff" /><Relationship Type="http://schemas.openxmlformats.org/officeDocument/2006/relationships/notesMaster" Target="/ppt/notesMasters/notesMaster1.xml" Id="Rbd7596bf076747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5d59559ac345bf" /><Relationship Type="http://schemas.openxmlformats.org/officeDocument/2006/relationships/notesMaster" Target="/ppt/notesMasters/notesMaster1.xml" Id="R562216c39d86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页：研究问题与原型范围</a:t>
            </a:r>
          </a:p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题目是有限表达的文字选择与机器人手语候选表达。输入一句英文或选择短语，系统选择一个明确编号，再预览对应的机器人动作。我们目前只研究三个候选，全部处于语言可理解性待验证状态。今天汇报两条主线：文字能否选对编号，以及机器人是否能在自身形态约束下呈现参考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本页讲述检查：不要说成任意英文翻译，也不要说已经服务医院。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https://github.com/unitreerobotics/unitree_ros/tree/5994d4faef0a9cadd3287f8de0199a67eeb2a259/robots/g1_description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data/catalog.json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页：场景、现有选择与收敛</a:t>
            </a:r>
          </a:p>
          <a:p xmlns:a="http://schemas.openxmlformats.org/drawingml/2006/main">
            <a:r>
              <a:t>建议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我们把应用设想放在接待处的简短服务互动，但这只是未来场景假设。文字显示、人类手语和机器人表达解决的环节不同；本项目选择可重复的机器人动作，便于检查形态和动作路径。现阶段词汇表只有 HELLO、THANK_YOU 和 PLEASE_WAIT 三个编号。最后一个编号为了接口兼容保留，但动作来源只支持 WAIT 词例，不能称为完整礼貌请求。ASL 也不等于新加坡本地 SgSL，未来本地部署还需要重新确认语言需求。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本页讲述检查：能否清楚说明当前研究目标与设想应用之间的距离？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docs/实施路线.md</a:t>
            </a:r>
          </a:p>
          <a:p xmlns:a="http://schemas.openxmlformats.org/drawingml/2006/main">
            <a:r>
              <a:t>docs/source-review.md</a:t>
            </a:r>
          </a:p>
          <a:p xmlns:a="http://schemas.openxmlformats.org/drawingml/2006/main">
            <a:r>
              <a:t>data/catalog.json</a:t>
            </a:r>
          </a:p>
          <a:p xmlns:a="http://schemas.openxmlformats.org/drawingml/2006/main">
            <a:r>
              <a:t>https://sadeaf.org.sg/sgsl-course/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页：公共接口与错误隔离</a:t>
            </a:r>
          </a:p>
          <a:p xmlns:a="http://schemas.openxmlformats.org/drawingml/2006/main">
            <a:r>
              <a:t>建议 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这个系统有两条独立验收线。语言模块先经过公共拒绝检查，再由固定匹配、句向量或本地模型决定编号。它输出的 status 只有四类，非 execute 状态不能携带动作。编号选中后，还要通过独立候选预览许可，默认阻止未评审动作。网页现场运行文字选择，但播放的是事先用真实 MuJoCo 逐帧渲染的 MP4，不能称为浏览器实时物理仿真。分开模块后，误选与动作几何错误可以分别定位。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本页讲述检查：语言失败与动作失败分别在哪个接口被发现？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contracts/interfaces.json</a:t>
            </a:r>
          </a:p>
          <a:p xmlns:a="http://schemas.openxmlformats.org/drawingml/2006/main">
            <a:r>
              <a:t>src/sign_robot/pipeline.py</a:t>
            </a:r>
          </a:p>
          <a:p xmlns:a="http://schemas.openxmlformats.org/drawingml/2006/main">
            <a:r>
              <a:t>src/sign_robot/server.py</a:t>
            </a:r>
          </a:p>
          <a:p xmlns:a="http://schemas.openxmlformats.org/drawingml/2006/main">
            <a:r>
              <a:t>src/sign_robot/language.py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页：模型自由度与控制边界</a:t>
            </a:r>
          </a:p>
          <a:p xmlns:a="http://schemas.openxmlformats.org/drawingml/2006/main">
            <a:r>
              <a:t>建议 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机器人模型来自 Unitree 官方仓库，固定到具体提交并保存逐文件哈希。这里的 53 是标量关节坐标数，包含从动关节，不能说成 53 个独立电机。我们保留 12 条 mimic 耦合。当前场景的执行器数是零，直接回放 qpos，因此验收的是运动学几何，不是控制器跟踪、力矩可行性或真实机器人安全。手指缺少独立并指能力，头部和面部也没有表达，这些限制影响动作的语言真实性。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本页讲述检查：如果有人问这是不是实时控制，应答运动学回放，并说明未做哪些动力学检查。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https://github.com/unitreerobotics/unitree_ros/tree/5994d4faef0a9cadd3287f8de0199a67eeb2a259/robots/g1_description</a:t>
            </a:r>
          </a:p>
          <a:p xmlns:a="http://schemas.openxmlformats.org/drawingml/2006/main">
            <a:r>
              <a:t>assets/robot/model_info.json</a:t>
            </a:r>
          </a:p>
          <a:p xmlns:a="http://schemas.openxmlformats.org/drawingml/2006/main">
            <a:r>
              <a:t>assets/robot/upstream_manifest.json</a:t>
            </a:r>
          </a:p>
          <a:p xmlns:a="http://schemas.openxmlformats.org/drawingml/2006/main">
            <a:r>
              <a:t>motions/THANK_YOU.json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页：公开视频如何指导校准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A1 实际播放了 ASLU 的 THANK YOU 和 WAIT 视频，并用浏览器暂停逐帧观察。THANK YOU 的关键顺序是近唇起手、掌面向自身、向前略下、最后掌向上。这里展示的是我们自己的机器人渲染，下面的秒数对应来源视频的观察时刻，并不是机器人截图的同一时间，也不是精确人体三维标注。机器人仍有脸部间隙，手指间距不同且缺少微笑。视频对照帮助修正明显偏差，但不能直接得出毫米级真人重定向误差或可理解性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本页讲述检查：指明视频时间与机器人时间属于不同时间轴。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https://www.lifeprint.com/asl101/pages-signs/t/thankyou.htm</a:t>
            </a:r>
          </a:p>
          <a:p xmlns:a="http://schemas.openxmlformats.org/drawingml/2006/main">
            <a:r>
              <a:t>https://www.youtube.com/watch?v=2W0BDFUjsG0</a:t>
            </a:r>
          </a:p>
          <a:p xmlns:a="http://schemas.openxmlformats.org/drawingml/2006/main">
            <a:r>
              <a:t>docs/video-calibration.md</a:t>
            </a:r>
          </a:p>
          <a:p xmlns:a="http://schemas.openxmlformats.org/drawingml/2006/main">
            <a:r>
              <a:t>results/previews/THANK_YOU_calibration.json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页：逆运动学、插值与轨迹验收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输入是人工指定的手腕位置、朝向和时刻，输出是按关节命名的 positions[T,53]。有界数值 IK 同时考虑位置、旋转、与前一姿态的变化和部分距离惩罚。相邻关键帧使用三次 smoothstep，段端速度为零，但加速度连续性并没有保证。THANK YOU 加入 12 个中间位姿，避免仅插值两端关节角造成指尖向上绕行。我们检查全帧关节限位、速度、耦合和上游已有碰撞几何。已有几何没有深于 1 毫米的穿透，不等于完整安全证明。右图 WAIT 还有耦合手指与完整请求表达缺口。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本页讲述检查：要能解释为何小 IK 残差不能证明手语正确。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scripts/build_motions.py</a:t>
            </a:r>
          </a:p>
          <a:p xmlns:a="http://schemas.openxmlformats.org/drawingml/2006/main">
            <a:r>
              <a:t>tests/test_motion.py</a:t>
            </a:r>
          </a:p>
          <a:p xmlns:a="http://schemas.openxmlformats.org/drawingml/2006/main">
            <a:r>
              <a:t>motions/THANK_YOU.json</a:t>
            </a:r>
          </a:p>
          <a:p xmlns:a="http://schemas.openxmlformats.org/drawingml/2006/main">
            <a:r>
              <a:t>motions/PLEASE_WAIT.json</a:t>
            </a:r>
          </a:p>
          <a:p xmlns:a="http://schemas.openxmlformats.org/drawingml/2006/main">
            <a:r>
              <a:t>docs/实施路线.md</a:t>
            </a:r>
          </a:p>
          <a:p xmlns:a="http://schemas.openxmlformats.org/drawingml/2006/main">
            <a:r>
              <a:t>https://www.lifeprint.com/asl101/pages-signs/w/wait.htm</a:t>
            </a:r>
          </a:p>
          <a:p xmlns:a="http://schemas.openxmlformats.org/drawingml/2006/main">
            <a:r>
              <a:t>https://www.youtube.com/watch?v=YfwgS9ZsBVw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页：方法对比与共享控制条件</a:t>
            </a:r>
          </a:p>
          <a:p xmlns:a="http://schemas.openxmlformats.org/drawingml/2006/main">
            <a:r>
              <a:t>建议 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固定匹配只接受登记的完整短语。MiniLM 用本地真实的 384 维句向量，根据相似度和候选差值决定选择或拒绝。LLM 使用已有本地 Q8 检查点，严格要求整个回答等于五种标签之一，程序再封装统一接口。三个方法前面都使用同一套公共拒绝规则，所以报告的是方法加规则的系统行为。LLM 最早要求 JSON 时三个开发正例全失败；一次协议修复后格式三条合法但只选对两条，没有达到开发启用门槛，因此只进入研究对照，默认继续关闭。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本页讲述检查：不要把共享 guard 的成功全部归功于模型。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https://huggingface.co/sentence-transformers/all-MiniLM-L6-v2/tree/1110a243fdf4706b3f48f1d95db1a4f5529b4d41</a:t>
            </a:r>
          </a:p>
          <a:p xmlns:a="http://schemas.openxmlformats.org/drawingml/2006/main">
            <a:r>
              <a:t>config/embedding.json</a:t>
            </a:r>
          </a:p>
          <a:p xmlns:a="http://schemas.openxmlformats.org/drawingml/2006/main">
            <a:r>
              <a:t>config/llm_local_provenance.json</a:t>
            </a:r>
          </a:p>
          <a:p xmlns:a="http://schemas.openxmlformats.org/drawingml/2006/main">
            <a:r>
              <a:t>config/llm_local_feasibility_v1.json</a:t>
            </a:r>
          </a:p>
          <a:p xmlns:a="http://schemas.openxmlformats.org/drawingml/2006/main">
            <a:r>
              <a:t>config/llm_local_feasibility_v2_label.json</a:t>
            </a:r>
          </a:p>
          <a:p xmlns:a="http://schemas.openxmlformats.org/drawingml/2006/main">
            <a:r>
              <a:t>src/sign_robot/llm.py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页：评价协议与总体结果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最终集包含 60 条输入，支持与库外各 30 条；另外有 18 条开发题。我们在运行前冻结测试哈希，并保存全部原始返回。标签由 agent 起草、尚未人审，所以只能称探索性结果。整体行为准确率将支持输入选对和库外正确拒绝合并：固定匹配 38 条，MiniLM 47 条，LLM 48 条。error 算错误，不把运行异常当成功拒绝。三个方法的分母一致，但总分隐藏错误类型，需要看下一页。它只测英文到 ID，不测动作是否可理解。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本页讲述检查：如果全部拒绝，支持部分会怎样计分？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results/evaluation/test-20261008T142047221403Z/summary.json</a:t>
            </a:r>
          </a:p>
          <a:p xmlns:a="http://schemas.openxmlformats.org/drawingml/2006/main">
            <a:r>
              <a:t>results/evaluation/test-20261008T142047221403Z/raw.jsonl</a:t>
            </a:r>
          </a:p>
          <a:p xmlns:a="http://schemas.openxmlformats.org/drawingml/2006/main">
            <a:r>
              <a:t>data/source_manifest.json</a:t>
            </a:r>
          </a:p>
          <a:p xmlns:a="http://schemas.openxmlformats.org/drawingml/2006/main">
            <a:r>
              <a:t>docs/source-review.md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页：负结果与默认选择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的总体分数略高，但支持输入里有一条选错编号，两个非法输出，并把两条库外请求执行成动作。MiniLM 仍有 13 条支持输入被错误拒绝，不能说效果已经很好。LLM 的 60 条里只有 35 条真的请求模型，25 条由 guard 截断，实际 HTTP 子集的正确行为是 25/35，guard 是 23/25。这是经过筛选的条件子集，不能当成模型总体独立准确率。我们保留全部失败，未按最终题调提示词，默认继续用 exact 或 MiniLM。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本页讲述检查：为什么总准确率更高还不足以启用该方法？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results/evaluation/test-20261008T142047221403Z/summary.json</a:t>
            </a:r>
          </a:p>
          <a:p xmlns:a="http://schemas.openxmlformats.org/drawingml/2006/main">
            <a:r>
              <a:t>results/evaluation/test-20261008T142047221403Z/raw.jsonl</a:t>
            </a:r>
          </a:p>
          <a:p xmlns:a="http://schemas.openxmlformats.org/drawingml/2006/main">
            <a:r>
              <a:t>results/evaluation/test-20261008T142047221403Z/counterexamples.jsonl</a:t>
            </a:r>
          </a:p>
          <a:p xmlns:a="http://schemas.openxmlformats.org/drawingml/2006/main">
            <a:r>
              <a:t>config/llm.json</a:t>
            </a:r>
          </a:p>
          <a:p xmlns:a="http://schemas.openxmlformats.org/drawingml/2006/main">
            <a:r>
              <a:t>config/llm_experimental.json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页：现场演示顺序</a:t>
            </a:r>
          </a:p>
          <a:p xmlns:a="http://schemas.openxmlformats.org/drawingml/2006/main">
            <a:r>
              <a:t>建议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这一页留 60 秒做现场演示。演示前先双击 run_demo.command，确认本机 5412 页面可以打开。先输入 Thank you，展示选中编号但默认阻止候选动作。再勾选研究预览，看到真实 MuJoCo 预渲染视频。接着输入 Many thanks 用 MiniLM 选择同一表达。最后输入 I do not want to wait 或 Please wait and take two pills，观察拒绝与清除上一动作。断网时模型和 MP4 已在本机即可做这两种方法的备份演示，LLM 默认不可用。网页的视频不是实时物理控制。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本页讲述检查：失败输入后屏幕是否仍残留上一条动作？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results/ui/demo-detail.jpg</a:t>
            </a:r>
          </a:p>
          <a:p xmlns:a="http://schemas.openxmlformats.org/drawingml/2006/main">
            <a:r>
              <a:t>tests/test_pipeline.py</a:t>
            </a:r>
          </a:p>
          <a:p xmlns:a="http://schemas.openxmlformats.org/drawingml/2006/main">
            <a:r>
              <a:t>tests/test_server.py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页：实际训练的小型轨迹模型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这里报告已经完成的一次真实拟合，而不是未来计划。训练资料只有三条 agent 编写的轨迹，共 732 个高度相关的帧。367 个偶数帧拟合，365 个奇数帧验证，仍来自相同三条示范。冻结 MiniLM 把文字变成 384 维向量，加常数后与 40 个高斯相位基做张量积，用闭式岭回归拟合 26 个主动上肢坐标。W 形状为 385×40×26。剩余 15 个坐标保持 neutral，12 个 mimic 从动坐标按约束重建，因此输出 53 个关节坐标。它是学习型 RBF ridge 回归，不是深度生成模型。推理加载拟合权重，在新时间点重算，而不读取旧轨迹文件。表中误差在明确限位投影后计算；原预测小幅越界没有隐藏，六条主轨迹最大投影约 0.001978 rad，低于冻结 0.02 rad 门槛。三条原时长和三条加长百分之二十时长通过冻结几何门槛，但只检验已知示范内部的时间插值。没有新词、独立表演或 ASL 理解证据，默认旧演示保持不变。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本页讲述检查：为什么 732 帧不能写成 732 条独立示范？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results/motion_learning/v1/report.json</a:t>
            </a:r>
          </a:p>
          <a:p xmlns:a="http://schemas.openxmlformats.org/drawingml/2006/main">
            <a:r>
              <a:t>results/motion_learning/v1/model.json</a:t>
            </a:r>
          </a:p>
          <a:p xmlns:a="http://schemas.openxmlformats.org/drawingml/2006/main">
            <a:r>
              <a:t>config/motion_learning_v1.json</a:t>
            </a:r>
          </a:p>
          <a:p xmlns:a="http://schemas.openxmlformats.org/drawingml/2006/main">
            <a:r>
              <a:t>docs/学习型轨迹模型.md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页：语料接入与升级缺口</a:t>
            </a:r>
          </a:p>
          <a:p xmlns:a="http://schemas.openxmlformats.org/drawingml/2006/main">
            <a:r>
              <a:t>建议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数据侧实际下载并校验 How2Sign 的三个重对齐文本文件，分别有 31165、1741 和 2357 条标注行，总计 35263 行。索引包含英文句子、ID 和对齐时间戳；行数与唯一句子 ID 数不同，唯一源句 ID 是 34438。我们没有新增视频、人体姿态或机器人动作监督，因此这三万多条没有进入上一页的轨迹模型训练。How2Sign 来源按 CC BY-NC 4.0 保留归属、原始字节和派生修改说明。下一步真正需要的监督是许可清楚的人体动作，再把手腕、指尖、掌向与身体关系重定向到机器人。验证也要按完整示范或适当 signer 隔离。下载更多文本或同一动作增加采样帧，不能替代独立动作数据。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本页讲述检查：这 35,263 条里有哪些内容可以直接作为机器人关节监督？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data/corpus_index/how2sign_realigned_v1/download_manifest.json</a:t>
            </a:r>
          </a:p>
          <a:p xmlns:a="http://schemas.openxmlformats.org/drawingml/2006/main">
            <a:r>
              <a:t>docs/语料规模与模型升级.md</a:t>
            </a:r>
          </a:p>
          <a:p xmlns:a="http://schemas.openxmlformats.org/drawingml/2006/main">
            <a:r>
              <a:t>https://how2sign.github.io/</a:t>
            </a:r>
          </a:p>
          <a:p xmlns:a="http://schemas.openxmlformats.org/drawingml/2006/main">
            <a:r>
              <a:t>https://github.com/how2sign/how2sign.github.io/tree/f85816c184662406bd8e0f338863b7c243763129</a:t>
            </a:r>
          </a:p>
          <a:p xmlns:a="http://schemas.openxmlformats.org/drawingml/2006/main">
            <a:r>
              <a:t>https://creativecommons.org/licenses/by-nc/4.0/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页：六人如何接手</a:t>
            </a:r>
          </a:p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分工按数据和接口而不是代码量划分。A1 确认来源支持什么含义，A2 实现受约束轨迹。B1 和 B2 只看开发集，把冻结版本交给 C1 评价。C2 汇总界面、跨电脑复现与演示。每人可以有一个 agent，但 agent 写出文件不等于同学掌握方法，大家都要能解释自己的输入输出和失败。建议 10 月底形成完整演示与备份，11 月 2 日前冻结提交版。课程原简报截止为 11 月 3 日，最终提交方式应按 Canvas 最新通知核对。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本页讲述检查：下一次验收要看到什么文件或行为，不能只汇报“在做”。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docs/six-person-handoff.md</a:t>
            </a:r>
          </a:p>
          <a:p xmlns:a="http://schemas.openxmlformats.org/drawingml/2006/main">
            <a:r>
              <a:t>docs/实施路线.md</a:t>
            </a:r>
          </a:p>
          <a:p xmlns:a="http://schemas.openxmlformats.org/drawingml/2006/main">
            <a:r>
              <a:t>Course briefing, slide 4: submission of slides on November 3,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页：闭环与问答</a:t>
            </a:r>
          </a:p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我们已经把项目从固定候选回放推进到一次真实学习实验：原有选择器保留，RBF ridge 将三条已有轨迹拟合为文字和相位函数，How2Sign 文本索引也已经实际接入。证据范围仍然清楚：旧 60 题测文字编号选择，新奇数帧验证测同示范时间插值，三万多元数据没有提供新增动作监督。下一步应获得许可明确的真实动作目标，并按独立示范划分，再测试 ASL 使用者能否理解。不能把低拟合误差说成掌握通用手语。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本页讲述检查：不要用“测试通过”回答语言理解或临床效果问题。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results/acceptance.json</a:t>
            </a:r>
          </a:p>
          <a:p xmlns:a="http://schemas.openxmlformats.org/drawingml/2006/main">
            <a:r>
              <a:t>docs/source-review.md</a:t>
            </a:r>
          </a:p>
          <a:p xmlns:a="http://schemas.openxmlformats.org/drawingml/2006/main">
            <a:r>
              <a:t>docs/video-calibration.md</a:t>
            </a:r>
          </a:p>
          <a:p xmlns:a="http://schemas.openxmlformats.org/drawingml/2006/main">
            <a:r>
              <a:t>results/motion_learning/v1/report.json</a:t>
            </a:r>
          </a:p>
          <a:p xmlns:a="http://schemas.openxmlformats.org/drawingml/2006/main">
            <a:r>
              <a:t>data/corpus_index/how2sign_realigned_v1/download_manifest.json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682e9d48248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6d20ac48e4f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ad307ad194a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f8c3c2d954f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0742524764f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db016d05d41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E526B1-8033-431E-BA1D-6EC49E2BE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7C8871-023E-4E76-95C1-9B5B91C092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1CF6C6-7FAD-40C0-9373-E184CCECE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B2F4FA-FCD6-4C1B-9B4B-DE985C8850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181744-471C-460C-924C-A7B185CACF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C7756E-9101-4506-AD9F-E8B2F9832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A34F1-E799-41ED-9D16-B2924DC4C2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EEBFE1-1AE3-491B-8818-C110621E82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299AA-8C28-41FD-83E3-CF4B81F42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445E36-1AA7-44D2-99FD-1E53A2875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5e1b790b604a8d" /><Relationship Type="http://schemas.openxmlformats.org/officeDocument/2006/relationships/slideLayout" Target="/ppt/slideLayouts/slideLayout1.xml" Id="R7771dcdee9ca47f1" /><Relationship Type="http://schemas.openxmlformats.org/officeDocument/2006/relationships/slideLayout" Target="/ppt/slideLayouts/slideLayout2.xml" Id="R4e4a12f6330d43e5" /><Relationship Type="http://schemas.openxmlformats.org/officeDocument/2006/relationships/slideLayout" Target="/ppt/slideLayouts/slideLayout3.xml" Id="Rfb4592d4779c42cf" /><Relationship Type="http://schemas.openxmlformats.org/officeDocument/2006/relationships/slideLayout" Target="/ppt/slideLayouts/slideLayout4.xml" Id="Ra3308d9b23bf4724" /><Relationship Type="http://schemas.openxmlformats.org/officeDocument/2006/relationships/slideLayout" Target="/ppt/slideLayouts/slideLayout5.xml" Id="R12c5ce61e7ba48ec" /><Relationship Type="http://schemas.openxmlformats.org/officeDocument/2006/relationships/slideLayout" Target="/ppt/slideLayouts/slideLayout6.xml" Id="Rd41ea9aecf58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71dcdee9ca47f1"/>
    <p:sldLayoutId xmlns:r="http://schemas.openxmlformats.org/officeDocument/2006/relationships" id="2147483650" r:id="R4e4a12f6330d43e5"/>
    <p:sldLayoutId xmlns:r="http://schemas.openxmlformats.org/officeDocument/2006/relationships" id="2147483651" r:id="Rfb4592d4779c42cf"/>
    <p:sldLayoutId xmlns:r="http://schemas.openxmlformats.org/officeDocument/2006/relationships" id="2147483652" r:id="Ra3308d9b23bf4724"/>
    <p:sldLayoutId xmlns:r="http://schemas.openxmlformats.org/officeDocument/2006/relationships" id="2147483653" r:id="R12c5ce61e7ba48ec"/>
    <p:sldLayoutId xmlns:r="http://schemas.openxmlformats.org/officeDocument/2006/relationships" id="2147483654" r:id="Rd41ea9aecf58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b3aa95cc5445e" /><Relationship Type="http://schemas.openxmlformats.org/officeDocument/2006/relationships/image" Target="/ppt/media/image.png" Id="Rbe4ea8582df44b4d" /><Relationship Type="http://schemas.openxmlformats.org/officeDocument/2006/relationships/notesSlide" Target="/ppt/notesSlides/notesSlide1.xml" Id="Ra23a67fea0314a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d12e785ce4298" /><Relationship Type="http://schemas.openxmlformats.org/officeDocument/2006/relationships/notesSlide" Target="/ppt/notesSlides/notesSlide2.xml" Id="R5fe7b4c0a2bb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443c4eb5a41d0" /><Relationship Type="http://schemas.openxmlformats.org/officeDocument/2006/relationships/notesSlide" Target="/ppt/notesSlides/notesSlide3.xml" Id="Rd9a51b2f483544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ce016a97a4224" /><Relationship Type="http://schemas.openxmlformats.org/officeDocument/2006/relationships/image" Target="/ppt/media/image2.png" Id="Rf1ea6316b38446fa" /><Relationship Type="http://schemas.openxmlformats.org/officeDocument/2006/relationships/notesSlide" Target="/ppt/notesSlides/notesSlide4.xml" Id="Rc9a481feedef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4ea75ca644e60" /><Relationship Type="http://schemas.openxmlformats.org/officeDocument/2006/relationships/image" Target="/ppt/media/image3.png" Id="R75c10b71cac24bcd" /><Relationship Type="http://schemas.openxmlformats.org/officeDocument/2006/relationships/image" Target="/ppt/media/image4.png" Id="Rcfe48d18bbd74cec" /><Relationship Type="http://schemas.openxmlformats.org/officeDocument/2006/relationships/image" Target="/ppt/media/image5.png" Id="R48d4ab809cb749aa" /><Relationship Type="http://schemas.openxmlformats.org/officeDocument/2006/relationships/notesSlide" Target="/ppt/notesSlides/notesSlide5.xml" Id="R55796b1b281c43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edc94850a4cb9" /><Relationship Type="http://schemas.openxmlformats.org/officeDocument/2006/relationships/image" Target="/ppt/media/image6.png" Id="R98a0613d7ffa4c56" /><Relationship Type="http://schemas.openxmlformats.org/officeDocument/2006/relationships/notesSlide" Target="/ppt/notesSlides/notesSlide6.xml" Id="R258ec6cd189e4e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48399a3c94b8a" /><Relationship Type="http://schemas.openxmlformats.org/officeDocument/2006/relationships/notesSlide" Target="/ppt/notesSlides/notesSlide7.xml" Id="R7e56cfd78a0f49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94612661b468a" /><Relationship Type="http://schemas.openxmlformats.org/officeDocument/2006/relationships/chart" Target="/ppt/slides/charts/chart1.xml" Id="Rd781180d0269473d" /><Relationship Type="http://schemas.openxmlformats.org/officeDocument/2006/relationships/notesSlide" Target="/ppt/notesSlides/notesSlide8.xml" Id="Rd467cb740db44a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a0975ed44424d" /><Relationship Type="http://schemas.openxmlformats.org/officeDocument/2006/relationships/notesSlide" Target="/ppt/notesSlides/notesSlide9.xml" Id="Ra3f395ec725441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78ea850424a97" /><Relationship Type="http://schemas.openxmlformats.org/officeDocument/2006/relationships/image" Target="/ppt/media/image.jpeg" Id="R47d059855db74089" /><Relationship Type="http://schemas.openxmlformats.org/officeDocument/2006/relationships/notesSlide" Target="/ppt/notesSlides/notesSlide10.xml" Id="Re510ac105a4049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cf9975cfd4144" /><Relationship Type="http://schemas.openxmlformats.org/officeDocument/2006/relationships/notesSlide" Target="/ppt/notesSlides/notesSlide11.xml" Id="Ra3680591cb6046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2370453d04555" /><Relationship Type="http://schemas.openxmlformats.org/officeDocument/2006/relationships/notesSlide" Target="/ppt/notesSlides/notesSlide12.xml" Id="R87a4a3797cff4f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845ee26f94bc9" /><Relationship Type="http://schemas.openxmlformats.org/officeDocument/2006/relationships/notesSlide" Target="/ppt/notesSlides/notesSlide13.xml" Id="R4e4f5ecfa0fa46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c82e35f80415c" /><Relationship Type="http://schemas.openxmlformats.org/officeDocument/2006/relationships/notesSlide" Target="/ppt/notesSlides/notesSlide14.xml" Id="Rc7f68cd1a4964fe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Correct behavior / 60</c:v>
          </c:tx>
          <c:spPr>
            <a:solidFill xmlns:a="http://schemas.openxmlformats.org/drawingml/2006/main">
              <a:srgbClr val="007D78"/>
            </a:solidFill>
          </c:spPr>
          <c:cat>
            <c:strRef>
              <c:f>'Chart Data'!$A$2:$A$4</c:f>
              <c:strCache>
                <c:ptCount val="3"/>
                <c:pt idx="0">
                  <c:v>Exact + guard</c:v>
                </c:pt>
                <c:pt idx="1">
                  <c:v>MiniLM + guard</c:v>
                </c:pt>
                <c:pt idx="2">
                  <c:v>LLM + guard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38</c:v>
                </c:pt>
                <c:pt idx="1">
                  <c:v>47</c:v>
                </c:pt>
                <c:pt idx="2">
                  <c:v>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A32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8BF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8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4B666B"/>
                    </a:solidFill>
                    <a:latin typeface="Helvetica Neue"/>
                    <a:ea typeface="Helvetica Neue"/>
                    <a:cs typeface="Helvetica Neue"/>
                  </a:rPr>
                  <a:t>Cases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4B666B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E5412 Robotics for Healthcare">
            <a:extLst xmlns:a="http://schemas.openxmlformats.org/drawingml/2006/main">
              <a:ext uri="{FF2B5EF4-FFF2-40B4-BE49-F238E27FC236}">
                <a16:creationId xmlns:a16="http://schemas.microsoft.com/office/drawing/2014/main" id="{FFA8AD1B-2772-4A5E-80CC-7522AFAF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3D3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3D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73D3C5"/>
                </a:solidFill>
                <a:latin typeface="Helvetica Neue"/>
                <a:ea typeface="Helvetica Neue"/>
                <a:cs typeface="Helvetica Neue"/>
              </a:rPr>
              <a:t>ME5412 Robotics for Healthcare</a:t>
            </a:r>
          </a:p>
        </p:txBody>
      </p:sp>
      <p:sp>
        <p:nvSpPr>
          <p:cNvPr id="2" name="Text to&#10;robot signing">
            <a:extLst xmlns:a="http://schemas.openxmlformats.org/drawingml/2006/main">
              <a:ext uri="{FF2B5EF4-FFF2-40B4-BE49-F238E27FC236}">
                <a16:creationId xmlns:a16="http://schemas.microsoft.com/office/drawing/2014/main" id="{7B37E690-42B0-43D8-A0B0-540DFA35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61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Text to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robot signing</a:t>
            </a:r>
          </a:p>
        </p:txBody>
      </p:sp>
      <p:sp>
        <p:nvSpPr>
          <p:cNvPr id="3" name="Finite expressions and a learned&#10;trajectory p">
            <a:extLst xmlns:a="http://schemas.openxmlformats.org/drawingml/2006/main">
              <a:ext uri="{FF2B5EF4-FFF2-40B4-BE49-F238E27FC236}">
                <a16:creationId xmlns:a16="http://schemas.microsoft.com/office/drawing/2014/main" id="{F52DD657-C639-41C1-9EB6-8C0831CA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rPr>
              <a:t>Finite expressions and a learned</a:t>
            </a:r>
          </a:p>
          <a:p xmlns:a="http://schemas.openxmlformats.org/drawingml/2006/main">
            <a:pPr algn="l">
              <a:def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rPr>
              <a:t>trajectory prototype</a:t>
            </a:r>
          </a:p>
        </p:txBody>
      </p:sp>
      <p:sp>
        <p:nvSpPr>
          <p:cNvPr id="4" name="Simulation prototype  /  8 October 2026">
            <a:extLst xmlns:a="http://schemas.openxmlformats.org/drawingml/2006/main">
              <a:ext uri="{FF2B5EF4-FFF2-40B4-BE49-F238E27FC236}">
                <a16:creationId xmlns:a16="http://schemas.microsoft.com/office/drawing/2014/main" id="{CBD09132-9DAB-4BCF-8C54-1A8E3D1E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3B9C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3B9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3B9C0"/>
                </a:solidFill>
                <a:latin typeface="Helvetica Neue"/>
                <a:ea typeface="Helvetica Neue"/>
                <a:cs typeface="Helvetica Neue"/>
              </a:rPr>
              <a:t>Simulation prototype  /  8 October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03712-AFCF-443E-B84C-52DBD45B1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ea8582df44b4d"/>
          <a:stretch xmlns:a="http://schemas.openxmlformats.org/drawingml/2006/main"/>
        </p:blipFill>
        <p:spPr>
          <a:xfrm xmlns:a="http://schemas.openxmlformats.org/drawingml/2006/main">
            <a:off x="6343650" y="1450181"/>
            <a:ext cx="5353050" cy="4014788"/>
          </a:xfrm>
          <a:prstGeom xmlns:a="http://schemas.openxmlformats.org/drawingml/2006/main" prst="rect">
            <a:avLst/>
          </a:prstGeom>
        </p:spPr>
      </p:pic>
      <p:sp>
        <p:nvSpPr>
          <p:cNvPr id="6" name="Candidate motion. ASL comprehensibility unrev">
            <a:extLst xmlns:a="http://schemas.openxmlformats.org/drawingml/2006/main">
              <a:ext uri="{FF2B5EF4-FFF2-40B4-BE49-F238E27FC236}">
                <a16:creationId xmlns:a16="http://schemas.microsoft.com/office/drawing/2014/main" id="{B294E8EA-D26D-406B-AF30-3C844DBC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512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DC17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EDC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DC17E"/>
                </a:solidFill>
                <a:latin typeface="Helvetica Neue"/>
                <a:ea typeface="Helvetica Neue"/>
                <a:cs typeface="Helvetica Neue"/>
              </a:rPr>
              <a:t>Candidate motion. ASL comprehensibility unreviewed.</a:t>
            </a:r>
          </a:p>
        </p:txBody>
      </p:sp>
    </p:spTree>
    <p:extLst>
      <p:ext uri="{BB962C8B-B14F-4D97-AF65-F5344CB8AC3E}">
        <p14:creationId xmlns:p14="http://schemas.microsoft.com/office/powerpoint/2010/main" val="890755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blem and project scope">
            <a:extLst xmlns:a="http://schemas.openxmlformats.org/drawingml/2006/main">
              <a:ext uri="{FF2B5EF4-FFF2-40B4-BE49-F238E27FC236}">
                <a16:creationId xmlns:a16="http://schemas.microsoft.com/office/drawing/2014/main" id="{DBA0C00E-A2F0-4568-BC8F-075E069F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Problem and project scope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14E9147-796F-4735-9F2B-1E6E5F4F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080076CD-F6FB-40A6-8D92-23DEA41C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Proposed setting">
            <a:extLst xmlns:a="http://schemas.openxmlformats.org/drawingml/2006/main">
              <a:ext uri="{FF2B5EF4-FFF2-40B4-BE49-F238E27FC236}">
                <a16:creationId xmlns:a16="http://schemas.microsoft.com/office/drawing/2014/main" id="{BA306A28-2C60-4677-AE78-EE67518D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Proposed setting</a:t>
            </a:r>
          </a:p>
        </p:txBody>
      </p:sp>
      <p:sp>
        <p:nvSpPr>
          <p:cNvPr id="5" name="Brief service interactions at a care receptio">
            <a:extLst xmlns:a="http://schemas.openxmlformats.org/drawingml/2006/main">
              <a:ext uri="{FF2B5EF4-FFF2-40B4-BE49-F238E27FC236}">
                <a16:creationId xmlns:a16="http://schemas.microsoft.com/office/drawing/2014/main" id="{2848D910-FB52-4E51-9D23-FBE0834C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4006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Brief service interactions at a care reception desk.</a:t>
            </a:r>
          </a:p>
        </p:txBody>
      </p:sp>
      <p:sp>
        <p:nvSpPr>
          <p:cNvPr id="6" name="The project tests expression selection and ro">
            <a:extLst xmlns:a="http://schemas.openxmlformats.org/drawingml/2006/main">
              <a:ext uri="{FF2B5EF4-FFF2-40B4-BE49-F238E27FC236}">
                <a16:creationId xmlns:a16="http://schemas.microsoft.com/office/drawing/2014/main" id="{4D8C14B6-46F7-4292-8F8B-E2CDFD46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2101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The project tests expression selection and robot motion. It has no clinical outcome evidence.</a:t>
            </a:r>
          </a:p>
        </p:txBody>
      </p:sp>
      <p:sp>
        <p:nvSpPr>
          <p:cNvPr id="7" name="Design alternatives">
            <a:extLst xmlns:a="http://schemas.openxmlformats.org/drawingml/2006/main">
              <a:ext uri="{FF2B5EF4-FFF2-40B4-BE49-F238E27FC236}">
                <a16:creationId xmlns:a16="http://schemas.microsoft.com/office/drawing/2014/main" id="{5DF74507-7472-4204-BBE2-22A0677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76375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Design alternatives</a:t>
            </a:r>
          </a:p>
        </p:txBody>
      </p:sp>
      <p:sp>
        <p:nvSpPr>
          <p:cNvPr id="8" name="Text display: no robot motion&#10;Human signing: ">
            <a:extLst xmlns:a="http://schemas.openxmlformats.org/drawingml/2006/main">
              <a:ext uri="{FF2B5EF4-FFF2-40B4-BE49-F238E27FC236}">
                <a16:creationId xmlns:a16="http://schemas.microsoft.com/office/drawing/2014/main" id="{1BAF263A-6C14-4A34-981D-4C7CEA9A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9775"/>
            <a:ext cx="48577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Text display: no robot motion</a:t>
            </a:r>
          </a:p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Human signing: reference for meaning</a:t>
            </a:r>
          </a:p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Robot candidate: repeatable motion to inspect</a:t>
            </a:r>
          </a:p>
        </p:txBody>
      </p:sp>
      <p:sp>
        <p:nvSpPr>
          <p:cNvPr id="9" name="Current vocabulary">
            <a:extLst xmlns:a="http://schemas.openxmlformats.org/drawingml/2006/main">
              <a:ext uri="{FF2B5EF4-FFF2-40B4-BE49-F238E27FC236}">
                <a16:creationId xmlns:a16="http://schemas.microsoft.com/office/drawing/2014/main" id="{054771BD-7CC2-469B-88DC-BFC7C7B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Current vocabulary</a:t>
            </a:r>
          </a:p>
        </p:txBody>
      </p:sp>
      <p:sp>
        <p:nvSpPr>
          <p:cNvPr id="10" name="HELLO&#10;THANK_YOU&#10;PLEASE_WAIT">
            <a:extLst xmlns:a="http://schemas.openxmlformats.org/drawingml/2006/main">
              <a:ext uri="{FF2B5EF4-FFF2-40B4-BE49-F238E27FC236}">
                <a16:creationId xmlns:a16="http://schemas.microsoft.com/office/drawing/2014/main" id="{1889D920-63CF-4FA9-AD0A-B00CD99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9580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HELLO</a:t>
            </a:r>
          </a:p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THANK_YOU</a:t>
            </a:r>
          </a:p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PLEASE_WAIT</a:t>
            </a:r>
          </a:p>
        </p:txBody>
      </p:sp>
      <p:sp>
        <p:nvSpPr>
          <p:cNvPr id="11" name="PLEASE_WAIT currently approximates the WAIT w">
            <a:extLst xmlns:a="http://schemas.openxmlformats.org/drawingml/2006/main">
              <a:ext uri="{FF2B5EF4-FFF2-40B4-BE49-F238E27FC236}">
                <a16:creationId xmlns:a16="http://schemas.microsoft.com/office/drawing/2014/main" id="{442396D7-3888-4449-9274-00B8F3D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PLEASE_WAIT currently approximates the WAIT word example.</a:t>
            </a:r>
          </a:p>
        </p:txBody>
      </p:sp>
    </p:spTree>
    <p:extLst>
      <p:ext uri="{BB962C8B-B14F-4D97-AF65-F5344CB8AC3E}">
        <p14:creationId xmlns:p14="http://schemas.microsoft.com/office/powerpoint/2010/main" val="1163169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efault demonstration architecture">
            <a:extLst xmlns:a="http://schemas.openxmlformats.org/drawingml/2006/main">
              <a:ext uri="{FF2B5EF4-FFF2-40B4-BE49-F238E27FC236}">
                <a16:creationId xmlns:a16="http://schemas.microsoft.com/office/drawing/2014/main" id="{F4C3D8B4-0054-4C8B-9F3D-F30564D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Default demonstration architecture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D89DE0C-64D8-4600-9BFF-74BDCA5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AA62EFC0-2070-42DE-9900-4E60488A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37C10BB-7B1C-48D2-A535-8EA5E248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English input or phrase button">
            <a:extLst xmlns:a="http://schemas.openxmlformats.org/drawingml/2006/main">
              <a:ext uri="{FF2B5EF4-FFF2-40B4-BE49-F238E27FC236}">
                <a16:creationId xmlns:a16="http://schemas.microsoft.com/office/drawing/2014/main" id="{FB2D914B-4F9F-409C-8185-20FFF3FE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8590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English input or phrase button</a:t>
            </a:r>
          </a:p>
        </p:txBody>
      </p:sp>
      <p:sp>
        <p:nvSpPr>
          <p:cNvPr id="6" name="One complete meaning">
            <a:extLst xmlns:a="http://schemas.openxmlformats.org/drawingml/2006/main">
              <a:ext uri="{FF2B5EF4-FFF2-40B4-BE49-F238E27FC236}">
                <a16:creationId xmlns:a16="http://schemas.microsoft.com/office/drawing/2014/main" id="{223A5C40-72ED-4739-A263-3333498B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514475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One complete meaning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F0DBD8D9-EF6F-45F6-9D17-64B19057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Shared guard and selector">
            <a:extLst xmlns:a="http://schemas.openxmlformats.org/drawingml/2006/main">
              <a:ext uri="{FF2B5EF4-FFF2-40B4-BE49-F238E27FC236}">
                <a16:creationId xmlns:a16="http://schemas.microsoft.com/office/drawing/2014/main" id="{CA83385B-15FF-430C-83AE-9B56D87B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52675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Shared guard and selector</a:t>
            </a:r>
          </a:p>
        </p:txBody>
      </p:sp>
      <p:sp>
        <p:nvSpPr>
          <p:cNvPr id="9" name="execute / clarify / unsupported / error">
            <a:extLst xmlns:a="http://schemas.openxmlformats.org/drawingml/2006/main">
              <a:ext uri="{FF2B5EF4-FFF2-40B4-BE49-F238E27FC236}">
                <a16:creationId xmlns:a16="http://schemas.microsoft.com/office/drawing/2014/main" id="{D63099A2-B82C-4234-8537-E940FD4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81250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execute / clarify / unsupported / error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538871DE-42A6-48BF-B01E-DEACE635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Action ID contract">
            <a:extLst xmlns:a="http://schemas.openxmlformats.org/drawingml/2006/main">
              <a:ext uri="{FF2B5EF4-FFF2-40B4-BE49-F238E27FC236}">
                <a16:creationId xmlns:a16="http://schemas.microsoft.com/office/drawing/2014/main" id="{35A3344F-F1B3-4902-849C-F00D9A6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Action ID contract</a:t>
            </a:r>
          </a:p>
        </p:txBody>
      </p:sp>
      <p:sp>
        <p:nvSpPr>
          <p:cNvPr id="12" name="HELLO / THANK_YOU / PLEASE_WAIT">
            <a:extLst xmlns:a="http://schemas.openxmlformats.org/drawingml/2006/main">
              <a:ext uri="{FF2B5EF4-FFF2-40B4-BE49-F238E27FC236}">
                <a16:creationId xmlns:a16="http://schemas.microsoft.com/office/drawing/2014/main" id="{9ADAB081-6003-4E7A-A3D2-6926AB8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48025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HELLO / THANK_YOU / PLEASE_WAIT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A66AE8F4-32A4-42BA-A5FB-26111578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Independent preview permission">
            <a:extLst xmlns:a="http://schemas.openxmlformats.org/drawingml/2006/main">
              <a:ext uri="{FF2B5EF4-FFF2-40B4-BE49-F238E27FC236}">
                <a16:creationId xmlns:a16="http://schemas.microsoft.com/office/drawing/2014/main" id="{FF3DB22F-A2BD-46D5-9746-C1CACDAD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86225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Independent preview permission</a:t>
            </a:r>
          </a:p>
        </p:txBody>
      </p:sp>
      <p:sp>
        <p:nvSpPr>
          <p:cNvPr id="15" name="Unreviewed motion blocked by default">
            <a:extLst xmlns:a="http://schemas.openxmlformats.org/drawingml/2006/main">
              <a:ext uri="{FF2B5EF4-FFF2-40B4-BE49-F238E27FC236}">
                <a16:creationId xmlns:a16="http://schemas.microsoft.com/office/drawing/2014/main" id="{AD38B57C-604A-4FCA-A995-694D59C2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14800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Unreviewed motion blocked by default</a:t>
            </a:r>
          </a:p>
        </p:txBody>
      </p:sp>
      <p:sp>
        <p:nvSpPr>
          <p:cNvPr id="16" name="05">
            <a:extLst xmlns:a="http://schemas.openxmlformats.org/drawingml/2006/main">
              <a:ext uri="{FF2B5EF4-FFF2-40B4-BE49-F238E27FC236}">
                <a16:creationId xmlns:a16="http://schemas.microsoft.com/office/drawing/2014/main" id="{18FE52A9-A746-4398-861D-CB4866D7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7" name="MuJoCo trajectory and video">
            <a:extLst xmlns:a="http://schemas.openxmlformats.org/drawingml/2006/main">
              <a:ext uri="{FF2B5EF4-FFF2-40B4-BE49-F238E27FC236}">
                <a16:creationId xmlns:a16="http://schemas.microsoft.com/office/drawing/2014/main" id="{52F603D4-2655-433B-AFCC-0027A56A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MuJoCo trajectory and video</a:t>
            </a:r>
          </a:p>
        </p:txBody>
      </p:sp>
      <p:sp>
        <p:nvSpPr>
          <p:cNvPr id="18" name="Named joints and timestamped positions">
            <a:extLst xmlns:a="http://schemas.openxmlformats.org/drawingml/2006/main">
              <a:ext uri="{FF2B5EF4-FFF2-40B4-BE49-F238E27FC236}">
                <a16:creationId xmlns:a16="http://schemas.microsoft.com/office/drawing/2014/main" id="{25962026-9B82-4D55-A6D8-41278F6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981575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Named joints and timestamped positions</a:t>
            </a:r>
          </a:p>
        </p:txBody>
      </p:sp>
      <p:sp>
        <p:nvSpPr>
          <p:cNvPr id="19" name="The selector returns an ID. It never generate">
            <a:extLst xmlns:a="http://schemas.openxmlformats.org/drawingml/2006/main">
              <a:ext uri="{FF2B5EF4-FFF2-40B4-BE49-F238E27FC236}">
                <a16:creationId xmlns:a16="http://schemas.microsoft.com/office/drawing/2014/main" id="{A01B1306-00C2-445D-8B81-F3E93308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721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The selector returns an ID. It never generates joint commands.</a:t>
            </a:r>
          </a:p>
        </p:txBody>
      </p:sp>
    </p:spTree>
    <p:extLst>
      <p:ext uri="{BB962C8B-B14F-4D97-AF65-F5344CB8AC3E}">
        <p14:creationId xmlns:p14="http://schemas.microsoft.com/office/powerpoint/2010/main" val="50688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obot model and control boundary">
            <a:extLst xmlns:a="http://schemas.openxmlformats.org/drawingml/2006/main">
              <a:ext uri="{FF2B5EF4-FFF2-40B4-BE49-F238E27FC236}">
                <a16:creationId xmlns:a16="http://schemas.microsoft.com/office/drawing/2014/main" id="{10944574-4E43-455C-8C88-79079961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Robot model and control boundary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6FED1DD3-7817-416F-AF3E-C84C1B8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719A90E8-195C-424F-8176-0172A514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6657D-9359-4819-B69E-05C853AD6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a6316b38446fa"/>
          <a:stretch xmlns:a="http://schemas.openxmlformats.org/drawingml/2006/main"/>
        </p:blipFill>
        <p:spPr>
          <a:xfrm xmlns:a="http://schemas.openxmlformats.org/drawingml/2006/main">
            <a:off x="6192838" y="1533525"/>
            <a:ext cx="543560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Unitree G1 + Inspire DFQ">
            <a:extLst xmlns:a="http://schemas.openxmlformats.org/drawingml/2006/main">
              <a:ext uri="{FF2B5EF4-FFF2-40B4-BE49-F238E27FC236}">
                <a16:creationId xmlns:a16="http://schemas.microsoft.com/office/drawing/2014/main" id="{811777A9-68EE-4A65-A431-A4C3BC21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673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Unitree G1 + Inspire DFQ</a:t>
            </a:r>
          </a:p>
        </p:txBody>
      </p:sp>
      <p:sp>
        <p:nvSpPr>
          <p:cNvPr id="6" name="53 scalar joint coordinates&#10;12 retained mimic">
            <a:extLst xmlns:a="http://schemas.openxmlformats.org/drawingml/2006/main">
              <a:ext uri="{FF2B5EF4-FFF2-40B4-BE49-F238E27FC236}">
                <a16:creationId xmlns:a16="http://schemas.microsoft.com/office/drawing/2014/main" id="{3DE8DEC8-E49F-4908-99D6-86C2D9E2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95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53 scalar joint coordinates</a:t>
            </a:r>
          </a:p>
          <a:p xmlns:a="http://schemas.openxmlformats.org/drawingml/2006/main">
            <a: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12 retained mimic relations</a:t>
            </a:r>
          </a:p>
          <a:p xmlns:a="http://schemas.openxmlformats.org/drawingml/2006/main">
            <a: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0 actuators in this scene</a:t>
            </a:r>
          </a:p>
        </p:txBody>
      </p:sp>
      <p:sp>
        <p:nvSpPr>
          <p:cNvPr id="7" name="Fixed base with kinematic qpos replay. Couple">
            <a:extLst xmlns:a="http://schemas.openxmlformats.org/drawingml/2006/main">
              <a:ext uri="{FF2B5EF4-FFF2-40B4-BE49-F238E27FC236}">
                <a16:creationId xmlns:a16="http://schemas.microsoft.com/office/drawing/2014/main" id="{393D3E30-3289-45F3-A621-831275A5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49815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Fixed base with kinematic qpos replay. Coupled fingers limit independent handshape control.</a:t>
            </a:r>
          </a:p>
        </p:txBody>
      </p:sp>
      <p:sp>
        <p:nvSpPr>
          <p:cNvPr id="8" name="Dynamics and ASL comprehension remain unteste">
            <a:extLst xmlns:a="http://schemas.openxmlformats.org/drawingml/2006/main">
              <a:ext uri="{FF2B5EF4-FFF2-40B4-BE49-F238E27FC236}">
                <a16:creationId xmlns:a16="http://schemas.microsoft.com/office/drawing/2014/main" id="{6E98BE82-AC71-4D87-82FD-739F4B7B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Dynamics and ASL comprehension remain untested.</a:t>
            </a:r>
          </a:p>
        </p:txBody>
      </p:sp>
    </p:spTree>
    <p:extLst>
      <p:ext uri="{BB962C8B-B14F-4D97-AF65-F5344CB8AC3E}">
        <p14:creationId xmlns:p14="http://schemas.microsoft.com/office/powerpoint/2010/main" val="1010914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ideo references guide qualitative calibratio">
            <a:extLst xmlns:a="http://schemas.openxmlformats.org/drawingml/2006/main">
              <a:ext uri="{FF2B5EF4-FFF2-40B4-BE49-F238E27FC236}">
                <a16:creationId xmlns:a16="http://schemas.microsoft.com/office/drawing/2014/main" id="{CFD08FC2-00EB-4205-9E5E-400A48B6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Video references guide qualitative calibration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A92C3E9-E5BC-45D6-B4EF-DB895D89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A070C942-B198-46B2-AE77-5E601B34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5BFC2-0A24-46B1-9D1B-AFDA5446D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10b71cac24bcd"/>
          <a:stretch xmlns:a="http://schemas.openxmlformats.org/drawingml/2006/main"/>
        </p:blipFill>
        <p:spPr>
          <a:xfrm xmlns:a="http://schemas.openxmlformats.org/drawingml/2006/main">
            <a:off x="609600" y="1504950"/>
            <a:ext cx="3505200" cy="2628900"/>
          </a:xfrm>
          <a:prstGeom xmlns:a="http://schemas.openxmlformats.org/drawingml/2006/main" prst="rect">
            <a:avLst/>
          </a:prstGeom>
        </p:spPr>
      </p:pic>
      <p:sp>
        <p:nvSpPr>
          <p:cNvPr id="5" name="Near lower-face proxy">
            <a:extLst xmlns:a="http://schemas.openxmlformats.org/drawingml/2006/main">
              <a:ext uri="{FF2B5EF4-FFF2-40B4-BE49-F238E27FC236}">
                <a16:creationId xmlns:a16="http://schemas.microsoft.com/office/drawing/2014/main" id="{99C11A8F-6A23-4BEC-A85D-69E9F8DA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Near lower-face proxy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67DC5-0BD5-443D-A90E-6C2078498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48d18bbd74cec"/>
          <a:stretch xmlns:a="http://schemas.openxmlformats.org/drawingml/2006/main"/>
        </p:blipFill>
        <p:spPr>
          <a:xfrm xmlns:a="http://schemas.openxmlformats.org/drawingml/2006/main">
            <a:off x="4343400" y="1504950"/>
            <a:ext cx="3505200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Forward and slightly down">
            <a:extLst xmlns:a="http://schemas.openxmlformats.org/drawingml/2006/main">
              <a:ext uri="{FF2B5EF4-FFF2-40B4-BE49-F238E27FC236}">
                <a16:creationId xmlns:a16="http://schemas.microsoft.com/office/drawing/2014/main" id="{65256A2E-850B-44FD-AA07-75E85016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957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Forward and slightly down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74615-BEB4-4482-A387-33474C4FD4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4ab809cb749aa"/>
          <a:stretch xmlns:a="http://schemas.openxmlformats.org/drawingml/2006/main"/>
        </p:blipFill>
        <p:spPr>
          <a:xfrm xmlns:a="http://schemas.openxmlformats.org/drawingml/2006/main">
            <a:off x="8077200" y="1504950"/>
            <a:ext cx="3505200" cy="2628900"/>
          </a:xfrm>
          <a:prstGeom xmlns:a="http://schemas.openxmlformats.org/drawingml/2006/main" prst="rect">
            <a:avLst/>
          </a:prstGeom>
        </p:spPr>
      </p:pic>
      <p:sp>
        <p:nvSpPr>
          <p:cNvPr id="9" name="Final palm faces up">
            <a:extLst xmlns:a="http://schemas.openxmlformats.org/drawingml/2006/main">
              <a:ext uri="{FF2B5EF4-FFF2-40B4-BE49-F238E27FC236}">
                <a16:creationId xmlns:a16="http://schemas.microsoft.com/office/drawing/2014/main" id="{CF8E38B8-B8E4-46DB-9B96-DD265C99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Final palm faces up</a:t>
            </a:r>
          </a:p>
        </p:txBody>
      </p:sp>
      <p:sp>
        <p:nvSpPr>
          <p:cNvPr id="10" name="ASLU video observations: 0.916 s, 1.116 s and">
            <a:extLst xmlns:a="http://schemas.openxmlformats.org/drawingml/2006/main">
              <a:ext uri="{FF2B5EF4-FFF2-40B4-BE49-F238E27FC236}">
                <a16:creationId xmlns:a16="http://schemas.microsoft.com/office/drawing/2014/main" id="{1015DC6C-DCA5-4C1C-9EA0-78B696D6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ASLU video observations: 0.916 s, 1.116 s and 1.516 s</a:t>
            </a:r>
          </a:p>
        </p:txBody>
      </p:sp>
      <p:sp>
        <p:nvSpPr>
          <p:cNvPr id="11" name="Human video provides qualitative references. ">
            <a:extLst xmlns:a="http://schemas.openxmlformats.org/drawingml/2006/main">
              <a:ext uri="{FF2B5EF4-FFF2-40B4-BE49-F238E27FC236}">
                <a16:creationId xmlns:a16="http://schemas.microsoft.com/office/drawing/2014/main" id="{786703B0-1316-4D35-AF9F-6BAE533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744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Human video provides qualitative references. Robot keyframes use manual engineering targets.</a:t>
            </a:r>
          </a:p>
        </p:txBody>
      </p:sp>
    </p:spTree>
    <p:extLst>
      <p:ext uri="{BB962C8B-B14F-4D97-AF65-F5344CB8AC3E}">
        <p14:creationId xmlns:p14="http://schemas.microsoft.com/office/powerpoint/2010/main" val="1240213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otion construction and checks">
            <a:extLst xmlns:a="http://schemas.openxmlformats.org/drawingml/2006/main">
              <a:ext uri="{FF2B5EF4-FFF2-40B4-BE49-F238E27FC236}">
                <a16:creationId xmlns:a16="http://schemas.microsoft.com/office/drawing/2014/main" id="{30B8927F-4AE6-4AA3-B170-C3599B84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Motion construction and checks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4CDC5E73-C2FF-4E6D-AE43-4C697BE3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926A0583-0764-4BC8-8A91-11882B14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Manual wrist targets">
            <a:extLst xmlns:a="http://schemas.openxmlformats.org/drawingml/2006/main">
              <a:ext uri="{FF2B5EF4-FFF2-40B4-BE49-F238E27FC236}">
                <a16:creationId xmlns:a16="http://schemas.microsoft.com/office/drawing/2014/main" id="{85C190F2-1C05-4C27-AE60-DD46945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5372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Manual wrist targets</a:t>
            </a:r>
          </a:p>
        </p:txBody>
      </p:sp>
      <p:sp>
        <p:nvSpPr>
          <p:cNvPr id="5" name="Bounded inverse kinematics fits position and ">
            <a:extLst xmlns:a="http://schemas.openxmlformats.org/drawingml/2006/main">
              <a:ext uri="{FF2B5EF4-FFF2-40B4-BE49-F238E27FC236}">
                <a16:creationId xmlns:a16="http://schemas.microsoft.com/office/drawing/2014/main" id="{4544E418-29C4-4AC7-B0E1-12DCAA30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95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Bounded inverse kinematics fits position and orientation while limiting posture change.</a:t>
            </a:r>
          </a:p>
        </p:txBody>
      </p:sp>
      <p:sp>
        <p:nvSpPr>
          <p:cNvPr id="6" name="q(u) = (1 − s) q₀ + s q₁&#10;s(u) = 3u² − 2u³">
            <a:extLst xmlns:a="http://schemas.openxmlformats.org/drawingml/2006/main">
              <a:ext uri="{FF2B5EF4-FFF2-40B4-BE49-F238E27FC236}">
                <a16:creationId xmlns:a16="http://schemas.microsoft.com/office/drawing/2014/main" id="{6AD8D996-7A33-4DBB-9C88-E394BE5F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305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q(u) = (1 − s) q₀ + s q₁</a:t>
            </a:r>
          </a:p>
          <a:p xmlns:a="http://schemas.openxmlformats.org/drawingml/2006/main">
            <a:pPr algn="l">
              <a:def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s(u) = 3u² − 2u³</a:t>
            </a:r>
          </a:p>
        </p:txBody>
      </p:sp>
      <p:sp>
        <p:nvSpPr>
          <p:cNvPr id="7" name="u is normalized segment time.&#10;Zero endpoint v">
            <a:extLst xmlns:a="http://schemas.openxmlformats.org/drawingml/2006/main">
              <a:ext uri="{FF2B5EF4-FFF2-40B4-BE49-F238E27FC236}">
                <a16:creationId xmlns:a16="http://schemas.microsoft.com/office/drawing/2014/main" id="{9D9B9553-7697-414D-8F91-BEE3A30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u is normalized segment time.</a:t>
            </a:r>
          </a:p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Zero endpoint velocity does not ensure continuous acceleration.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F32B4-69D5-4668-9142-C1C4F9F8A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0613d7ffa4c56"/>
          <a:stretch xmlns:a="http://schemas.openxmlformats.org/drawingml/2006/main"/>
        </p:blipFill>
        <p:spPr>
          <a:xfrm xmlns:a="http://schemas.openxmlformats.org/drawingml/2006/main">
            <a:off x="6372225" y="1582341"/>
            <a:ext cx="5191125" cy="3893344"/>
          </a:xfrm>
          <a:prstGeom xmlns:a="http://schemas.openxmlformats.org/drawingml/2006/main" prst="rect">
            <a:avLst/>
          </a:prstGeom>
        </p:spPr>
      </p:pic>
      <p:sp>
        <p:nvSpPr>
          <p:cNvPr id="9" name="WAIT remains a coupled-finger approximation.">
            <a:extLst xmlns:a="http://schemas.openxmlformats.org/drawingml/2006/main">
              <a:ext uri="{FF2B5EF4-FFF2-40B4-BE49-F238E27FC236}">
                <a16:creationId xmlns:a16="http://schemas.microsoft.com/office/drawing/2014/main" id="{0B204DA1-67F7-4E7D-95A2-576F496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6197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WAIT remains a coupled-finger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47237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ree selectors share one interface">
            <a:extLst xmlns:a="http://schemas.openxmlformats.org/drawingml/2006/main">
              <a:ext uri="{FF2B5EF4-FFF2-40B4-BE49-F238E27FC236}">
                <a16:creationId xmlns:a16="http://schemas.microsoft.com/office/drawing/2014/main" id="{0FFEB7AA-C2FD-485E-AB1F-5853EAD6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Three selectors share one interface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3EA4919-6A77-4129-8826-496F127F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7739A273-BD44-4C8E-A0A7-094E2EC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E6277-7AAA-4BCD-A424-C2D87AB61E07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257675"/>
              </a:tblGrid>
              <a:tr h="8143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Mechanism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limitation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matching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registered phrase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shared guard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paraphrase coverage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384-dimensional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sentence embeddings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Thresholds can reject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paraphrases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LLM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 five-label output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from existing Q8 checkpoint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choices and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labels observed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</a:tbl>
          </a:graphicData>
        </a:graphic>
      </p:graphicFrame>
      <p:sp>
        <p:nvSpPr>
          <p:cNvPr id="5" name="All methods return the same allowed ID or a n">
            <a:extLst xmlns:a="http://schemas.openxmlformats.org/drawingml/2006/main">
              <a:ext uri="{FF2B5EF4-FFF2-40B4-BE49-F238E27FC236}">
                <a16:creationId xmlns:a16="http://schemas.microsoft.com/office/drawing/2014/main" id="{ADCBC8AE-A4C6-41E8-B480-B0640AA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All methods return the same allowed ID or a non-execution status.</a:t>
            </a:r>
          </a:p>
        </p:txBody>
      </p:sp>
      <p:sp>
        <p:nvSpPr>
          <p:cNvPr id="6" name="Default demo: exact or MiniLM. LLM remains di">
            <a:extLst xmlns:a="http://schemas.openxmlformats.org/drawingml/2006/main">
              <a:ext uri="{FF2B5EF4-FFF2-40B4-BE49-F238E27FC236}">
                <a16:creationId xmlns:a16="http://schemas.microsoft.com/office/drawing/2014/main" id="{7C80DB97-D490-4500-A57B-F1CF3B8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87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Default demo: exact or MiniLM. LLM remains disabled after its development gate failed.</a:t>
            </a:r>
          </a:p>
        </p:txBody>
      </p:sp>
    </p:spTree>
    <p:extLst>
      <p:ext uri="{BB962C8B-B14F-4D97-AF65-F5344CB8AC3E}">
        <p14:creationId xmlns:p14="http://schemas.microsoft.com/office/powerpoint/2010/main" val="2134766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ozen text evaluation">
            <a:extLst xmlns:a="http://schemas.openxmlformats.org/drawingml/2006/main">
              <a:ext uri="{FF2B5EF4-FFF2-40B4-BE49-F238E27FC236}">
                <a16:creationId xmlns:a16="http://schemas.microsoft.com/office/drawing/2014/main" id="{D6DF9FB3-6434-4138-9E96-C0A512E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Frozen text evaluation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7791067-5C9E-4F04-AE8E-D9EFA368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E5590380-3BFA-4CC3-A20E-D40E081C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60 cases: 30 supported and 30 out of scope">
            <a:extLst xmlns:a="http://schemas.openxmlformats.org/drawingml/2006/main">
              <a:ext uri="{FF2B5EF4-FFF2-40B4-BE49-F238E27FC236}">
                <a16:creationId xmlns:a16="http://schemas.microsoft.com/office/drawing/2014/main" id="{82F67BF5-82E3-4DBA-A9D6-B6C36967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68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60 cases: 30 supported and 30 out of scope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877321D-9E98-4841-BD42-170D89B0C913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721995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81180d0269473d"/>
          </a:graphicData>
        </a:graphic>
      </p:graphicFrame>
      <p:sp>
        <p:nvSpPr>
          <p:cNvPr id="6" name="18 development cases">
            <a:extLst xmlns:a="http://schemas.openxmlformats.org/drawingml/2006/main">
              <a:ext uri="{FF2B5EF4-FFF2-40B4-BE49-F238E27FC236}">
                <a16:creationId xmlns:a16="http://schemas.microsoft.com/office/drawing/2014/main" id="{E29DBCC3-B86E-4210-836C-CFB22227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193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18 development cases</a:t>
            </a:r>
          </a:p>
        </p:txBody>
      </p:sp>
      <p:sp>
        <p:nvSpPr>
          <p:cNvPr id="7" name="Test frozen before evaluation">
            <a:extLst xmlns:a="http://schemas.openxmlformats.org/drawingml/2006/main">
              <a:ext uri="{FF2B5EF4-FFF2-40B4-BE49-F238E27FC236}">
                <a16:creationId xmlns:a16="http://schemas.microsoft.com/office/drawing/2014/main" id="{06024F79-8509-4CF3-A62F-BDCA50F8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099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Test frozen before evaluation</a:t>
            </a:r>
          </a:p>
        </p:txBody>
      </p:sp>
      <p:sp>
        <p:nvSpPr>
          <p:cNvPr id="8" name="Agent-drafted labels&#10;Human review pending">
            <a:extLst xmlns:a="http://schemas.openxmlformats.org/drawingml/2006/main">
              <a:ext uri="{FF2B5EF4-FFF2-40B4-BE49-F238E27FC236}">
                <a16:creationId xmlns:a16="http://schemas.microsoft.com/office/drawing/2014/main" id="{FCAFB309-6D3F-4229-BB6D-CD6DD01F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57700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Agent-drafted labels</a:t>
            </a:r>
          </a:p>
          <a:p xmlns:a="http://schemas.openxmlformats.org/drawingml/2006/main">
            <a:pPr algn="l">
              <a:def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Human review pending</a:t>
            </a:r>
          </a:p>
        </p:txBody>
      </p:sp>
      <p:sp>
        <p:nvSpPr>
          <p:cNvPr id="9" name="Correct behavior includes correct rejection. ">
            <a:extLst xmlns:a="http://schemas.openxmlformats.org/drawingml/2006/main">
              <a:ext uri="{FF2B5EF4-FFF2-40B4-BE49-F238E27FC236}">
                <a16:creationId xmlns:a16="http://schemas.microsoft.com/office/drawing/2014/main" id="{F7A61A6F-04E3-4450-B7EC-6E5F23E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0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Correct behavior includes correct rejection. This metric does not measure ASL comprehension.</a:t>
            </a:r>
          </a:p>
        </p:txBody>
      </p:sp>
    </p:spTree>
    <p:extLst>
      <p:ext uri="{BB962C8B-B14F-4D97-AF65-F5344CB8AC3E}">
        <p14:creationId xmlns:p14="http://schemas.microsoft.com/office/powerpoint/2010/main" val="464691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LLM score includes incorrect execution">
            <a:extLst xmlns:a="http://schemas.openxmlformats.org/drawingml/2006/main">
              <a:ext uri="{FF2B5EF4-FFF2-40B4-BE49-F238E27FC236}">
                <a16:creationId xmlns:a16="http://schemas.microsoft.com/office/drawing/2014/main" id="{A714A443-773B-4CD9-AF67-FC075549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The LLM score includes incorrect execution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E4842E9-F5DF-4CD4-83DC-19CE1949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7782C8B-0BA3-4141-A2B3-737A2E95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F049A-D6C7-497C-B13F-3BAAE38A1D97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1752600"/>
                <a:gridCol w="1752600"/>
                <a:gridCol w="1943100"/>
              </a:tblGrid>
              <a:tr h="66865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LLM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input selected correctly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ID on supported input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Execution on out-of-scope input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output / runtime error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60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60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/ 60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35 actual LLM calls">
            <a:extLst xmlns:a="http://schemas.openxmlformats.org/drawingml/2006/main">
              <a:ext uri="{FF2B5EF4-FFF2-40B4-BE49-F238E27FC236}">
                <a16:creationId xmlns:a16="http://schemas.microsoft.com/office/drawing/2014/main" id="{290C7A7C-BDA2-49D4-A01C-246B0586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35 actual LLM calls</a:t>
            </a:r>
          </a:p>
        </p:txBody>
      </p:sp>
      <p:sp>
        <p:nvSpPr>
          <p:cNvPr id="6" name="25 cases ended in the shared guard">
            <a:extLst xmlns:a="http://schemas.openxmlformats.org/drawingml/2006/main">
              <a:ext uri="{FF2B5EF4-FFF2-40B4-BE49-F238E27FC236}">
                <a16:creationId xmlns:a16="http://schemas.microsoft.com/office/drawing/2014/main" id="{59E024FC-62F8-465E-8B33-C808A9B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551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25 cases ended in the shared guard</a:t>
            </a:r>
          </a:p>
        </p:txBody>
      </p:sp>
      <p:sp>
        <p:nvSpPr>
          <p:cNvPr id="7" name="The LLM remains disabled by default. Small-sa">
            <a:extLst xmlns:a="http://schemas.openxmlformats.org/drawingml/2006/main">
              <a:ext uri="{FF2B5EF4-FFF2-40B4-BE49-F238E27FC236}">
                <a16:creationId xmlns:a16="http://schemas.microsoft.com/office/drawing/2014/main" id="{AE349577-E688-4B3B-9485-DF700A8B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The LLM remains disabled by default. Small-sample zero counts do not establish zero risk.</a:t>
            </a:r>
          </a:p>
        </p:txBody>
      </p:sp>
    </p:spTree>
    <p:extLst>
      <p:ext uri="{BB962C8B-B14F-4D97-AF65-F5344CB8AC3E}">
        <p14:creationId xmlns:p14="http://schemas.microsoft.com/office/powerpoint/2010/main" val="324448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monstration and failure behavior">
            <a:extLst xmlns:a="http://schemas.openxmlformats.org/drawingml/2006/main">
              <a:ext uri="{FF2B5EF4-FFF2-40B4-BE49-F238E27FC236}">
                <a16:creationId xmlns:a16="http://schemas.microsoft.com/office/drawing/2014/main" id="{565624DE-12F0-4E17-938E-66D57F5F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Demonstration and failure behavior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295FC13-C732-4C87-A118-466B43E2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7FAB7108-6065-4760-A2AF-4DC7EAE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1   “Thank you.”">
            <a:extLst xmlns:a="http://schemas.openxmlformats.org/drawingml/2006/main">
              <a:ext uri="{FF2B5EF4-FFF2-40B4-BE49-F238E27FC236}">
                <a16:creationId xmlns:a16="http://schemas.microsoft.com/office/drawing/2014/main" id="{819878D9-FEEE-4259-86C0-BF467976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1   “Thank you.”</a:t>
            </a:r>
          </a:p>
        </p:txBody>
      </p:sp>
      <p:sp>
        <p:nvSpPr>
          <p:cNvPr id="5" name="Exact match selects THANK_YOU. Preview stays ">
            <a:extLst xmlns:a="http://schemas.openxmlformats.org/drawingml/2006/main">
              <a:ext uri="{FF2B5EF4-FFF2-40B4-BE49-F238E27FC236}">
                <a16:creationId xmlns:a16="http://schemas.microsoft.com/office/drawing/2014/main" id="{A89B4405-5A3F-426A-9ECF-9DFBBE55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6200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Exact match selects THANK_YOU. Preview stays blocked.</a:t>
            </a:r>
          </a:p>
        </p:txBody>
      </p:sp>
      <p:sp>
        <p:nvSpPr>
          <p:cNvPr id="6" name="2   Explicit candidate preview">
            <a:extLst xmlns:a="http://schemas.openxmlformats.org/drawingml/2006/main">
              <a:ext uri="{FF2B5EF4-FFF2-40B4-BE49-F238E27FC236}">
                <a16:creationId xmlns:a16="http://schemas.microsoft.com/office/drawing/2014/main" id="{9AA07FFF-A1B6-4FD2-A9DE-D96FCE6B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2   Explicit candidate preview</a:t>
            </a:r>
          </a:p>
        </p:txBody>
      </p:sp>
      <p:sp>
        <p:nvSpPr>
          <p:cNvPr id="7" name="Research permission enables the pre-rendered ">
            <a:extLst xmlns:a="http://schemas.openxmlformats.org/drawingml/2006/main">
              <a:ext uri="{FF2B5EF4-FFF2-40B4-BE49-F238E27FC236}">
                <a16:creationId xmlns:a16="http://schemas.microsoft.com/office/drawing/2014/main" id="{3532D31E-22E4-4988-B5B9-05C6AC7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6143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Research permission enables the pre-rendered motion.</a:t>
            </a:r>
          </a:p>
        </p:txBody>
      </p:sp>
      <p:sp>
        <p:nvSpPr>
          <p:cNvPr id="8" name="3   A mixed or negated request">
            <a:extLst xmlns:a="http://schemas.openxmlformats.org/drawingml/2006/main">
              <a:ext uri="{FF2B5EF4-FFF2-40B4-BE49-F238E27FC236}">
                <a16:creationId xmlns:a16="http://schemas.microsoft.com/office/drawing/2014/main" id="{D82A66E1-E4C7-46FC-B39D-526713C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3   A mixed or negated request</a:t>
            </a:r>
          </a:p>
        </p:txBody>
      </p:sp>
      <p:sp>
        <p:nvSpPr>
          <p:cNvPr id="9" name="The system rejects the input and clears the o">
            <a:extLst xmlns:a="http://schemas.openxmlformats.org/drawingml/2006/main">
              <a:ext uri="{FF2B5EF4-FFF2-40B4-BE49-F238E27FC236}">
                <a16:creationId xmlns:a16="http://schemas.microsoft.com/office/drawing/2014/main" id="{3A6BB907-AFCB-4AB2-9A38-050A416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6067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The system rejects the input and clears the old video.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B09BB-2BA8-421F-B1DB-45BF633E63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059855db74089"/>
          <a:stretch xmlns:a="http://schemas.openxmlformats.org/drawingml/2006/main"/>
        </p:blipFill>
        <p:spPr>
          <a:xfrm xmlns:a="http://schemas.openxmlformats.org/drawingml/2006/main">
            <a:off x="7978084" y="1438275"/>
            <a:ext cx="3531981" cy="4629150"/>
          </a:xfrm>
          <a:prstGeom xmlns:a="http://schemas.openxmlformats.org/drawingml/2006/main" prst="rect">
            <a:avLst/>
          </a:prstGeom>
        </p:spPr>
      </p:pic>
      <p:sp>
        <p:nvSpPr>
          <p:cNvPr id="11" name="Local startup: run_demo.command">
            <a:extLst xmlns:a="http://schemas.openxmlformats.org/drawingml/2006/main">
              <a:ext uri="{FF2B5EF4-FFF2-40B4-BE49-F238E27FC236}">
                <a16:creationId xmlns:a16="http://schemas.microsoft.com/office/drawing/2014/main" id="{21D44AFE-04E4-47DB-A6E2-943A2FF9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Local startup: run_demo.command</a:t>
            </a:r>
          </a:p>
        </p:txBody>
      </p:sp>
    </p:spTree>
    <p:extLst>
      <p:ext uri="{BB962C8B-B14F-4D97-AF65-F5344CB8AC3E}">
        <p14:creationId xmlns:p14="http://schemas.microsoft.com/office/powerpoint/2010/main" val="1110713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arning trajectories from text and phase">
            <a:extLst xmlns:a="http://schemas.openxmlformats.org/drawingml/2006/main">
              <a:ext uri="{FF2B5EF4-FFF2-40B4-BE49-F238E27FC236}">
                <a16:creationId xmlns:a16="http://schemas.microsoft.com/office/drawing/2014/main" id="{CE4AC53C-899F-48A0-88F0-CF1A98E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Learning trajectories from text and phase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BB4609F-0006-495F-AF14-24AD07D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E6AFBB5A-C82D-4D36-8CDD-651A739E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Frozen MiniLM (384) + Gaussian phase RBFs (40">
            <a:extLst xmlns:a="http://schemas.openxmlformats.org/drawingml/2006/main">
              <a:ext uri="{FF2B5EF4-FFF2-40B4-BE49-F238E27FC236}">
                <a16:creationId xmlns:a16="http://schemas.microsoft.com/office/drawing/2014/main" id="{81C3B1A0-0C7A-4897-B398-FE2F5D85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44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Frozen MiniLM (384) + Gaussian phase RBFs (40)</a:t>
            </a:r>
          </a:p>
        </p:txBody>
      </p:sp>
      <p:sp>
        <p:nvSpPr>
          <p:cNvPr id="5" name="Ridge regression fits 26 active joint coordin">
            <a:extLst xmlns:a="http://schemas.openxmlformats.org/drawingml/2006/main">
              <a:ext uri="{FF2B5EF4-FFF2-40B4-BE49-F238E27FC236}">
                <a16:creationId xmlns:a16="http://schemas.microsoft.com/office/drawing/2014/main" id="{97115ABB-1AC8-42D3-BA97-4A83469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Ridge regression fits 26 active joint coordinates.</a:t>
            </a:r>
          </a:p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Limit projection and mimic reconstruction return 53 coordinates.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FB8F7-56BE-477A-8609-966406BB49D8}"/>
              </a:ext>
            </a:extLst>
          </p:cNvPr>
          <p:cNvGraphicFramePr/>
          <p:nvPr/>
        </p:nvGraphicFramePr>
        <p:xfrm>
          <a:off xmlns:a="http://schemas.openxmlformats.org/drawingml/2006/main" x="609600" y="3152775"/>
          <a:ext xmlns:a="http://schemas.openxmlformats.org/drawingml/2006/main" cx="638175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276475"/>
                <a:gridCol w="2028825"/>
              </a:tblGrid>
              <a:tr h="585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Odd-frame RMSE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 error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HELLO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0.000430 rad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0.004278 rad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THANK_YOU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0.002528 rad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0.046329 rad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PLEASE_WAIT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0.000621 rad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0.005549 rad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</a:tbl>
          </a:graphicData>
        </a:graphic>
      </p:graphicFrame>
      <p:sp>
        <p:nvSpPr>
          <p:cNvPr id="7" name="3 authored demonstrations">
            <a:extLst xmlns:a="http://schemas.openxmlformats.org/drawingml/2006/main">
              <a:ext uri="{FF2B5EF4-FFF2-40B4-BE49-F238E27FC236}">
                <a16:creationId xmlns:a16="http://schemas.microsoft.com/office/drawing/2014/main" id="{51BAB283-0828-4270-896B-C52947AD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24200"/>
            <a:ext cx="395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3 authored demonstrations</a:t>
            </a:r>
          </a:p>
        </p:txBody>
      </p:sp>
      <p:sp>
        <p:nvSpPr>
          <p:cNvPr id="8" name="367 even frames for fitting&#10;365 odd frames fo">
            <a:extLst xmlns:a="http://schemas.openxmlformats.org/drawingml/2006/main">
              <a:ext uri="{FF2B5EF4-FFF2-40B4-BE49-F238E27FC236}">
                <a16:creationId xmlns:a16="http://schemas.microsoft.com/office/drawing/2014/main" id="{54CB6F72-8DB4-4C1D-8479-40EF7DEF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29075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367 even frames for fitting</a:t>
            </a:r>
          </a:p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365 odd frames for validation</a:t>
            </a:r>
          </a:p>
        </p:txBody>
      </p:sp>
      <p:sp>
        <p:nvSpPr>
          <p:cNvPr id="9" name="Same-demonstration interpolation only">
            <a:extLst xmlns:a="http://schemas.openxmlformats.org/drawingml/2006/main">
              <a:ext uri="{FF2B5EF4-FFF2-40B4-BE49-F238E27FC236}">
                <a16:creationId xmlns:a16="http://schemas.microsoft.com/office/drawing/2014/main" id="{6B9B1A68-A20A-4F35-85E0-7BC90B0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114925"/>
            <a:ext cx="3981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Same-demonstration interpolation only</a:t>
            </a:r>
          </a:p>
        </p:txBody>
      </p:sp>
      <p:sp>
        <p:nvSpPr>
          <p:cNvPr id="10" name="Fit and sampled geometry gates passed. Defaul">
            <a:extLst xmlns:a="http://schemas.openxmlformats.org/drawingml/2006/main">
              <a:ext uri="{FF2B5EF4-FFF2-40B4-BE49-F238E27FC236}">
                <a16:creationId xmlns:a16="http://schemas.microsoft.com/office/drawing/2014/main" id="{B684AF7C-B09A-4939-8D49-2F5B8BD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Fit and sampled geometry gates passed. Default route unchanged. ASL review pending.</a:t>
            </a:r>
          </a:p>
        </p:txBody>
      </p:sp>
    </p:spTree>
    <p:extLst>
      <p:ext uri="{BB962C8B-B14F-4D97-AF65-F5344CB8AC3E}">
        <p14:creationId xmlns:p14="http://schemas.microsoft.com/office/powerpoint/2010/main" val="1982582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w2Sign text records and missing motion targ">
            <a:extLst xmlns:a="http://schemas.openxmlformats.org/drawingml/2006/main">
              <a:ext uri="{FF2B5EF4-FFF2-40B4-BE49-F238E27FC236}">
                <a16:creationId xmlns:a16="http://schemas.microsoft.com/office/drawing/2014/main" id="{1E1E64D9-1952-4ED7-BD11-EED67BDF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How2Sign text records and missing motion targets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E18C65A-ED70-4F61-B329-43D9A7E3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81386ABD-1A39-4935-A1FA-B3A9B1D8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35,263 metadata rows acquired and hashed">
            <a:extLst xmlns:a="http://schemas.openxmlformats.org/drawingml/2006/main">
              <a:ext uri="{FF2B5EF4-FFF2-40B4-BE49-F238E27FC236}">
                <a16:creationId xmlns:a16="http://schemas.microsoft.com/office/drawing/2014/main" id="{EA1C7D51-70B5-48C7-A980-CB3195A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868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35,263 metadata rows acquired and hashed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DE19-FCE4-45FC-B626-897194BAAD15}"/>
              </a:ext>
            </a:extLst>
          </p:cNvPr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571750"/>
              </a:tblGrid>
              <a:tr h="6210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Official split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Annotation rows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31,165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1,741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2,357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35,263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vailable locally">
            <a:extLst xmlns:a="http://schemas.openxmlformats.org/drawingml/2006/main">
              <a:ext uri="{FF2B5EF4-FFF2-40B4-BE49-F238E27FC236}">
                <a16:creationId xmlns:a16="http://schemas.microsoft.com/office/drawing/2014/main" id="{C72A2898-48C6-4FCF-8DFC-D8C8B0A7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76475"/>
            <a:ext cx="5019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Available locally</a:t>
            </a:r>
          </a:p>
        </p:txBody>
      </p:sp>
      <p:sp>
        <p:nvSpPr>
          <p:cNvPr id="7" name="English text, sentence IDs&#10;and aligned timest">
            <a:extLst xmlns:a="http://schemas.openxmlformats.org/drawingml/2006/main">
              <a:ext uri="{FF2B5EF4-FFF2-40B4-BE49-F238E27FC236}">
                <a16:creationId xmlns:a16="http://schemas.microsoft.com/office/drawing/2014/main" id="{C366D87D-1475-4D78-99D5-0D7FBCF0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5010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English text, sentence IDs</a:t>
            </a:r>
          </a:p>
          <a:p xmlns:a="http://schemas.openxmlformats.org/drawingml/2006/main">
            <a:pPr algn="l">
              <a:defRPr sz="21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and aligned timestamps</a:t>
            </a:r>
          </a:p>
        </p:txBody>
      </p:sp>
      <p:sp>
        <p:nvSpPr>
          <p:cNvPr id="8" name="New video / pose / robot&#10;supervision: 0">
            <a:extLst xmlns:a="http://schemas.openxmlformats.org/drawingml/2006/main">
              <a:ext uri="{FF2B5EF4-FFF2-40B4-BE49-F238E27FC236}">
                <a16:creationId xmlns:a16="http://schemas.microsoft.com/office/drawing/2014/main" id="{FA220817-1122-42C8-B56A-8215409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67175"/>
            <a:ext cx="4962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New video / pose / robot</a:t>
            </a:r>
          </a:p>
          <a:p xmlns:a="http://schemas.openxmlformats.org/drawingml/2006/main">
            <a:pPr algn="l">
              <a:defRPr sz="2550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supervision: 0</a:t>
            </a:r>
          </a:p>
        </p:txBody>
      </p:sp>
      <p:sp>
        <p:nvSpPr>
          <p:cNvPr id="9" name="Next step: permitted motion targets, robot re">
            <a:extLst xmlns:a="http://schemas.openxmlformats.org/drawingml/2006/main">
              <a:ext uri="{FF2B5EF4-FFF2-40B4-BE49-F238E27FC236}">
                <a16:creationId xmlns:a16="http://schemas.microsoft.com/office/drawing/2014/main" id="{C49B8204-8D30-4966-8A91-25174649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Next step: permitted motion targets, robot retargeting and independent demonstration splits.</a:t>
            </a:r>
          </a:p>
        </p:txBody>
      </p:sp>
    </p:spTree>
    <p:extLst>
      <p:ext uri="{BB962C8B-B14F-4D97-AF65-F5344CB8AC3E}">
        <p14:creationId xmlns:p14="http://schemas.microsoft.com/office/powerpoint/2010/main" val="9418324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ix owners and remaining work">
            <a:extLst xmlns:a="http://schemas.openxmlformats.org/drawingml/2006/main">
              <a:ext uri="{FF2B5EF4-FFF2-40B4-BE49-F238E27FC236}">
                <a16:creationId xmlns:a16="http://schemas.microsoft.com/office/drawing/2014/main" id="{78880278-B8DB-461C-8449-6389B23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Six owners and remaining work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06CF60D0-D3D0-4D83-8AA5-47EFF3AB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7F3D96A4-586E-4FE6-8369-4BF1957C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42789-3B0D-44D7-87A1-0C7E92105BF8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3752850"/>
                <a:gridCol w="5210175"/>
              </a:tblGrid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artifact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acceptance check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A1  Sources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Video notes and text index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Permitted motion targets and meaning review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A2  Motion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Trajectories and fitted RBF model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demonstrations and retargeting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  Matching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and local embeddings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reviewed development data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  LLM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Reproducible negative result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protocol before prompt changes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C1  Evaluation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cases and raw outputs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labels and new test set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C2  Integration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demo and report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Second-computer reproduction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26–30 Oct: rehearsal materials.  31 Oct–2 Nov">
            <a:extLst xmlns:a="http://schemas.openxmlformats.org/drawingml/2006/main">
              <a:ext uri="{FF2B5EF4-FFF2-40B4-BE49-F238E27FC236}">
                <a16:creationId xmlns:a16="http://schemas.microsoft.com/office/drawing/2014/main" id="{F8AB83D7-59DB-4C0D-B0A6-C3E8EE9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26–30 Oct: rehearsal materials.  31 Oct–2 Nov: final rehearsal.  3 Nov: slides due.</a:t>
            </a:r>
          </a:p>
        </p:txBody>
      </p:sp>
    </p:spTree>
    <p:extLst>
      <p:ext uri="{BB962C8B-B14F-4D97-AF65-F5344CB8AC3E}">
        <p14:creationId xmlns:p14="http://schemas.microsoft.com/office/powerpoint/2010/main" val="11176330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clusions and open questions">
            <a:extLst xmlns:a="http://schemas.openxmlformats.org/drawingml/2006/main">
              <a:ext uri="{FF2B5EF4-FFF2-40B4-BE49-F238E27FC236}">
                <a16:creationId xmlns:a16="http://schemas.microsoft.com/office/drawing/2014/main" id="{FE77F4C6-0571-41EA-BBD6-8236154B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Conclusions and open questions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0145EDC-5451-4A1A-92F9-32FB89DE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EFC7ACC1-8DCD-4CA9-9E16-EA8D8E9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Working engineering prototype">
            <a:extLst xmlns:a="http://schemas.openxmlformats.org/drawingml/2006/main">
              <a:ext uri="{FF2B5EF4-FFF2-40B4-BE49-F238E27FC236}">
                <a16:creationId xmlns:a16="http://schemas.microsoft.com/office/drawing/2014/main" id="{07887FBA-09F5-4671-8E08-7D4D5F8A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372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Working engineering prototype</a:t>
            </a:r>
          </a:p>
        </p:txBody>
      </p:sp>
      <p:sp>
        <p:nvSpPr>
          <p:cNvPr id="5" name="The default selector and candidate motion pip">
            <a:extLst xmlns:a="http://schemas.openxmlformats.org/drawingml/2006/main">
              <a:ext uri="{FF2B5EF4-FFF2-40B4-BE49-F238E27FC236}">
                <a16:creationId xmlns:a16="http://schemas.microsoft.com/office/drawing/2014/main" id="{F514F6BE-6EC6-4286-A002-95E90D44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70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The default selector and candidate motion pipeline remain available.</a:t>
            </a:r>
          </a:p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A fitted text–phase model now reproduces three authored trajectories.</a:t>
            </a:r>
          </a:p>
        </p:txBody>
      </p:sp>
      <p:sp>
        <p:nvSpPr>
          <p:cNvPr id="6" name="Open language question">
            <a:extLst xmlns:a="http://schemas.openxmlformats.org/drawingml/2006/main">
              <a:ext uri="{FF2B5EF4-FFF2-40B4-BE49-F238E27FC236}">
                <a16:creationId xmlns:a16="http://schemas.microsoft.com/office/drawing/2014/main" id="{79391E63-CB4C-4E30-8B05-7FF54DA8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353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Open language question</a:t>
            </a:r>
          </a:p>
        </p:txBody>
      </p:sp>
      <p:sp>
        <p:nvSpPr>
          <p:cNvPr id="7" name="Three demonstrations support temporal interpo">
            <a:extLst xmlns:a="http://schemas.openxmlformats.org/drawingml/2006/main">
              <a:ext uri="{FF2B5EF4-FFF2-40B4-BE49-F238E27FC236}">
                <a16:creationId xmlns:a16="http://schemas.microsoft.com/office/drawing/2014/main" id="{358FD6A8-6877-49C2-8EB0-4DEBF10A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6775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Three demonstrations support temporal interpolation evidence.</a:t>
            </a:r>
          </a:p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New-sign generalization and ASL comprehension remain untested.</a:t>
            </a:r>
          </a:p>
        </p:txBody>
      </p:sp>
      <p:sp>
        <p:nvSpPr>
          <p:cNvPr id="8" name="Next evidence: real motion targets, independe">
            <a:extLst xmlns:a="http://schemas.openxmlformats.org/drawingml/2006/main">
              <a:ext uri="{FF2B5EF4-FFF2-40B4-BE49-F238E27FC236}">
                <a16:creationId xmlns:a16="http://schemas.microsoft.com/office/drawing/2014/main" id="{744FEC5E-6824-4A56-8F0A-14DE1A4C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Next evidence: real motion targets, independent demonstrations and meaning assessment.</a:t>
            </a:r>
          </a:p>
        </p:txBody>
      </p:sp>
    </p:spTree>
    <p:extLst>
      <p:ext uri="{BB962C8B-B14F-4D97-AF65-F5344CB8AC3E}">
        <p14:creationId xmlns:p14="http://schemas.microsoft.com/office/powerpoint/2010/main" val="1666464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2026-10-08T15:15:45.4410000Z</dcterms:created>
  <dcterms:modified xsi:type="dcterms:W3CDTF">2026-10-08T15:15:45.4410000Z</dcterms:modified>
</coreProperties>
</file>